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1" r:id="rId5"/>
    <p:sldId id="260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941" autoAdjust="0"/>
    <p:restoredTop sz="95048" autoAdjust="0"/>
  </p:normalViewPr>
  <p:slideViewPr>
    <p:cSldViewPr>
      <p:cViewPr varScale="1">
        <p:scale>
          <a:sx n="92" d="100"/>
          <a:sy n="92" d="100"/>
        </p:scale>
        <p:origin x="99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 smtClean="0"/>
              <a:t>Образец подзаголовка</a:t>
            </a:r>
            <a:endParaRPr lang="en-GB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CB119-AA3D-4374-98B0-0BEF108A9319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274B-F0A3-4AAD-A40C-ECB73BF918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9640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CB119-AA3D-4374-98B0-0BEF108A9319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274B-F0A3-4AAD-A40C-ECB73BF918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334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CB119-AA3D-4374-98B0-0BEF108A9319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274B-F0A3-4AAD-A40C-ECB73BF918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311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CB119-AA3D-4374-98B0-0BEF108A9319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274B-F0A3-4AAD-A40C-ECB73BF918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3537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CB119-AA3D-4374-98B0-0BEF108A9319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274B-F0A3-4AAD-A40C-ECB73BF918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1391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CB119-AA3D-4374-98B0-0BEF108A9319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274B-F0A3-4AAD-A40C-ECB73BF918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787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CB119-AA3D-4374-98B0-0BEF108A9319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274B-F0A3-4AAD-A40C-ECB73BF918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1737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CB119-AA3D-4374-98B0-0BEF108A9319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274B-F0A3-4AAD-A40C-ECB73BF918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3648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CB119-AA3D-4374-98B0-0BEF108A9319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274B-F0A3-4AAD-A40C-ECB73BF918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4023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CB119-AA3D-4374-98B0-0BEF108A9319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274B-F0A3-4AAD-A40C-ECB73BF918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894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CB119-AA3D-4374-98B0-0BEF108A9319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274B-F0A3-4AAD-A40C-ECB73BF918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1600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9CB119-AA3D-4374-98B0-0BEF108A9319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E274B-F0A3-4AAD-A40C-ECB73BF918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6599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22" y="0"/>
            <a:ext cx="6941556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7768" y="2816932"/>
            <a:ext cx="8748464" cy="1224135"/>
          </a:xfrm>
        </p:spPr>
        <p:txBody>
          <a:bodyPr>
            <a:normAutofit/>
          </a:bodyPr>
          <a:lstStyle/>
          <a:p>
            <a:endParaRPr lang="en-US" sz="3200" b="1" dirty="0" smtClean="0">
              <a:solidFill>
                <a:srgbClr val="FF0000"/>
              </a:solidFill>
            </a:endParaRPr>
          </a:p>
          <a:p>
            <a:endParaRPr lang="az-Latn-AZ" sz="3200" b="1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547664" y="2708920"/>
            <a:ext cx="6572120" cy="18774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Глюкокортикостероиды</a:t>
            </a:r>
            <a:r>
              <a:rPr lang="en-US" sz="40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 </a:t>
            </a:r>
            <a:endParaRPr lang="ru-RU" sz="4000" b="1" i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0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противокашлевые </a:t>
            </a:r>
            <a:r>
              <a:rPr lang="ru-RU" sz="4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</a:t>
            </a:r>
          </a:p>
          <a:p>
            <a:r>
              <a:rPr lang="ru-RU" dirty="0" smtClean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43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774" y="-13676"/>
            <a:ext cx="6941556" cy="685800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548680"/>
            <a:ext cx="9144000" cy="720080"/>
          </a:xfrm>
        </p:spPr>
        <p:txBody>
          <a:bodyPr>
            <a:noAutofit/>
          </a:bodyPr>
          <a:lstStyle/>
          <a:p>
            <a:pPr algn="ctr"/>
            <a:r>
              <a:rPr lang="ru-RU" sz="3600" b="1" i="1" dirty="0">
                <a:solidFill>
                  <a:srgbClr val="C00000"/>
                </a:solidFill>
              </a:rPr>
              <a:t>Глюкокортикостероиды</a:t>
            </a:r>
            <a:endParaRPr lang="en-US" sz="3600" b="1" i="1" dirty="0">
              <a:solidFill>
                <a:srgbClr val="C00000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552" y="1268760"/>
            <a:ext cx="9144000" cy="295232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Глюкокортикостероиды — это синтетические аналоги гормонов кортизона и гидрокортизона, которые вырабатываются корой надпочечников.Они обладают сильным противовоспалительным, противоаллергическим, противоотёчным и иммуноподавляющим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действием.</a:t>
            </a:r>
          </a:p>
          <a:p>
            <a:pPr marL="0" indent="0">
              <a:buNone/>
            </a:pP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❗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ГКС нельзя резко отменять — риск надпочечниковой недостаточности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ru-RU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❗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длительном приёме могут вызывать побочные эффекты (остеопороз, диабет, ожирение, гипертония).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ятиугольник 5"/>
          <p:cNvSpPr/>
          <p:nvPr/>
        </p:nvSpPr>
        <p:spPr>
          <a:xfrm>
            <a:off x="0" y="-13676"/>
            <a:ext cx="978408" cy="484632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Latn-AZ" sz="4800" b="1" i="1" dirty="0" smtClean="0">
                <a:solidFill>
                  <a:srgbClr val="C00000"/>
                </a:solidFill>
              </a:rPr>
              <a:t>2</a:t>
            </a:r>
            <a:endParaRPr lang="en-GB" sz="4800" b="1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7202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22" y="0"/>
            <a:ext cx="6941556" cy="6858000"/>
          </a:xfrm>
          <a:prstGeom prst="rect">
            <a:avLst/>
          </a:prstGeom>
        </p:spPr>
      </p:pic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8281637"/>
              </p:ext>
            </p:extLst>
          </p:nvPr>
        </p:nvGraphicFramePr>
        <p:xfrm>
          <a:off x="8824" y="542958"/>
          <a:ext cx="9135175" cy="5441099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92310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10603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10603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12138">
                <a:tc>
                  <a:txBody>
                    <a:bodyPr/>
                    <a:lstStyle/>
                    <a:p>
                      <a:r>
                        <a:rPr lang="az-Latn-AZ" sz="1800" dirty="0" smtClean="0"/>
                        <a:t>    </a:t>
                      </a:r>
                      <a:r>
                        <a:rPr lang="az-Latn-AZ" sz="2400" i="1" dirty="0" smtClean="0">
                          <a:solidFill>
                            <a:srgbClr val="C00000"/>
                          </a:solidFill>
                        </a:rPr>
                        <a:t>Dərmanın adı </a:t>
                      </a:r>
                      <a:endParaRPr lang="en-US" sz="2400" i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1800" dirty="0" smtClean="0"/>
                        <a:t>   </a:t>
                      </a:r>
                      <a:r>
                        <a:rPr lang="az-Latn-AZ" sz="2400" i="1" dirty="0" smtClean="0">
                          <a:solidFill>
                            <a:srgbClr val="C00000"/>
                          </a:solidFill>
                        </a:rPr>
                        <a:t>Dərmanın dozası</a:t>
                      </a:r>
                      <a:endParaRPr lang="en-US" sz="2400" i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i="1" dirty="0" smtClean="0">
                          <a:solidFill>
                            <a:srgbClr val="C00000"/>
                          </a:solidFill>
                        </a:rPr>
                        <a:t>Satış adı</a:t>
                      </a:r>
                      <a:endParaRPr lang="en-US" sz="2400" i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6222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solidFill>
                            <a:schemeClr val="dk1"/>
                          </a:solidFill>
                        </a:rPr>
                        <a:t>Дексаметазон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1800" dirty="0" smtClean="0"/>
                        <a:t>4mg</a:t>
                      </a:r>
                      <a:r>
                        <a:rPr lang="en-US" sz="1800" dirty="0" smtClean="0"/>
                        <a:t>/</a:t>
                      </a:r>
                      <a:r>
                        <a:rPr lang="en-US" sz="1800" baseline="0" dirty="0" smtClean="0"/>
                        <a:t>ml ; 0,5mg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az-Latn-AZ" sz="18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55207"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solidFill>
                            <a:schemeClr val="dk1"/>
                          </a:solidFill>
                        </a:rPr>
                        <a:t>Бетаметазон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7mg/ml ; 0,05%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solidFill>
                            <a:schemeClr val="tx1"/>
                          </a:solidFill>
                        </a:rPr>
                        <a:t>Betaderm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55032"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solidFill>
                            <a:schemeClr val="dk1"/>
                          </a:solidFill>
                        </a:rPr>
                        <a:t>Триамсиналон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1800" dirty="0" smtClean="0"/>
                        <a:t> </a:t>
                      </a:r>
                      <a:r>
                        <a:rPr lang="en-US" sz="1800" dirty="0" smtClean="0"/>
                        <a:t>40mg/ml</a:t>
                      </a:r>
                      <a:r>
                        <a:rPr lang="en-US" sz="1800" baseline="0" dirty="0" smtClean="0"/>
                        <a:t> ; 20mg/ml-amp </a:t>
                      </a:r>
                    </a:p>
                    <a:p>
                      <a:r>
                        <a:rPr lang="en-US" sz="1800" baseline="0" dirty="0" smtClean="0"/>
                        <a:t> 4mg-tab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1800" dirty="0" smtClean="0">
                          <a:solidFill>
                            <a:schemeClr val="tx1"/>
                          </a:solidFill>
                        </a:rPr>
                        <a:t>Polkortolon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sz="18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 smtClean="0">
                          <a:solidFill>
                            <a:schemeClr val="tx1"/>
                          </a:solidFill>
                        </a:rPr>
                        <a:t>Kenaloq</a:t>
                      </a:r>
                      <a:r>
                        <a:rPr lang="en-US" sz="1800" baseline="0" dirty="0" smtClean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az-Latn-AZ" sz="1800" baseline="0" dirty="0" smtClean="0">
                          <a:solidFill>
                            <a:schemeClr val="tx1"/>
                          </a:solidFill>
                        </a:rPr>
                        <a:t>Kenokart-A</a:t>
                      </a:r>
                      <a:endParaRPr lang="az-Latn-AZ" sz="18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87403"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solidFill>
                            <a:schemeClr val="dk1"/>
                          </a:solidFill>
                        </a:rPr>
                        <a:t>Преднизолон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dk1"/>
                          </a:solidFill>
                        </a:rPr>
                        <a:t>30mg/ml</a:t>
                      </a:r>
                      <a:r>
                        <a:rPr lang="en-US" sz="1800" baseline="0" dirty="0" smtClean="0">
                          <a:solidFill>
                            <a:schemeClr val="dk1"/>
                          </a:solidFill>
                        </a:rPr>
                        <a:t> ; 5mg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95529"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solidFill>
                            <a:schemeClr val="dk1"/>
                          </a:solidFill>
                        </a:rPr>
                        <a:t>Метилпреднизолон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1800" dirty="0" smtClean="0"/>
                        <a:t>4 ; 8</a:t>
                      </a:r>
                      <a:r>
                        <a:rPr lang="az-Latn-AZ" sz="1800" baseline="0" dirty="0" smtClean="0"/>
                        <a:t> ; 16 mg tablet</a:t>
                      </a:r>
                    </a:p>
                    <a:p>
                      <a:r>
                        <a:rPr lang="az-Latn-AZ" sz="1800" baseline="0" dirty="0" smtClean="0"/>
                        <a:t>20;40;250;500mg ampul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1800" dirty="0" smtClean="0">
                          <a:solidFill>
                            <a:schemeClr val="tx1"/>
                          </a:solidFill>
                        </a:rPr>
                        <a:t>Medrol,prednol</a:t>
                      </a:r>
                      <a:r>
                        <a:rPr lang="en-US" sz="1800" baseline="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az-Latn-AZ" sz="1800" baseline="0" dirty="0" smtClean="0">
                          <a:solidFill>
                            <a:schemeClr val="tx1"/>
                          </a:solidFill>
                        </a:rPr>
                        <a:t>Metipred</a:t>
                      </a:r>
                    </a:p>
                    <a:p>
                      <a:endParaRPr lang="az-Latn-AZ" sz="18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67474">
                <a:tc>
                  <a:txBody>
                    <a:bodyPr/>
                    <a:lstStyle/>
                    <a:p>
                      <a:r>
                        <a:rPr lang="ru-RU" sz="1800" baseline="0" dirty="0" smtClean="0">
                          <a:solidFill>
                            <a:schemeClr val="dk1"/>
                          </a:solidFill>
                        </a:rPr>
                        <a:t>Будесонид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1800" dirty="0" smtClean="0"/>
                        <a:t>0,25 və 0,5 mg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smtClean="0">
                          <a:solidFill>
                            <a:schemeClr val="tx1"/>
                          </a:solidFill>
                        </a:rPr>
                        <a:t>Пульмикорт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74341"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solidFill>
                            <a:schemeClr val="dk1"/>
                          </a:solidFill>
                        </a:rPr>
                        <a:t>Гидрокортизон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6567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</a:t>
                      </a:r>
                      <a:r>
                        <a:rPr lang="az-Latn-AZ" sz="1800" dirty="0" smtClean="0"/>
                        <a:t>o</a:t>
                      </a:r>
                      <a:r>
                        <a:rPr lang="ru-RU" sz="1800" dirty="0" smtClean="0"/>
                        <a:t>метазон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50mg</a:t>
                      </a:r>
                      <a:r>
                        <a:rPr lang="en-US" sz="1800" baseline="0" dirty="0" smtClean="0"/>
                        <a:t> ; 0,1%</a:t>
                      </a:r>
                      <a:endParaRPr lang="az-Latn-AZ" sz="1800" dirty="0" smtClean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solidFill>
                            <a:schemeClr val="tx1"/>
                          </a:solidFill>
                        </a:rPr>
                        <a:t>Momezon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800" dirty="0" err="1" smtClean="0">
                          <a:solidFill>
                            <a:schemeClr val="tx1"/>
                          </a:solidFill>
                        </a:rPr>
                        <a:t>Ditamal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72543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Me</a:t>
                      </a:r>
                      <a:r>
                        <a:rPr lang="ru-RU" sz="1800" dirty="0" smtClean="0">
                          <a:solidFill>
                            <a:schemeClr val="tx1"/>
                          </a:solidFill>
                        </a:rPr>
                        <a:t>тоспан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az-Latn-AZ" sz="1800" dirty="0" smtClean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36362828"/>
                  </a:ext>
                </a:extLst>
              </a:tr>
              <a:tr h="373690"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solidFill>
                            <a:schemeClr val="tx1"/>
                          </a:solidFill>
                        </a:rPr>
                        <a:t>Дипроспан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az-Latn-AZ" sz="18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087464168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solidFill>
                            <a:schemeClr val="tx1"/>
                          </a:solidFill>
                        </a:rPr>
                        <a:t>Сертоспан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az-Latn-AZ" sz="18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111933512"/>
                  </a:ext>
                </a:extLst>
              </a:tr>
            </a:tbl>
          </a:graphicData>
        </a:graphic>
      </p:graphicFrame>
      <p:sp>
        <p:nvSpPr>
          <p:cNvPr id="5" name="Pentagon 4"/>
          <p:cNvSpPr/>
          <p:nvPr/>
        </p:nvSpPr>
        <p:spPr>
          <a:xfrm>
            <a:off x="1" y="0"/>
            <a:ext cx="1331640" cy="548680"/>
          </a:xfrm>
          <a:prstGeom prst="homePlat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 smtClean="0">
                <a:solidFill>
                  <a:srgbClr val="C00000"/>
                </a:solidFill>
              </a:rPr>
              <a:t>3</a:t>
            </a:r>
            <a:endParaRPr lang="en-US" sz="4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443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22" y="0"/>
            <a:ext cx="6941556" cy="6858000"/>
          </a:xfrm>
          <a:prstGeom prst="rect">
            <a:avLst/>
          </a:prstGeom>
        </p:spPr>
      </p:pic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5533334"/>
              </p:ext>
            </p:extLst>
          </p:nvPr>
        </p:nvGraphicFramePr>
        <p:xfrm>
          <a:off x="-6796" y="2781145"/>
          <a:ext cx="9144000" cy="198041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048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z-Latn-AZ" sz="2000" i="1" dirty="0" smtClean="0">
                          <a:solidFill>
                            <a:srgbClr val="C00000"/>
                          </a:solidFill>
                        </a:rPr>
                        <a:t>Dərmanın adı </a:t>
                      </a:r>
                      <a:endParaRPr lang="ru-RU" sz="2000" i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i="1" dirty="0" smtClean="0">
                          <a:solidFill>
                            <a:srgbClr val="C00000"/>
                          </a:solidFill>
                        </a:rPr>
                        <a:t>Dozası </a:t>
                      </a:r>
                      <a:endParaRPr lang="ru-RU" sz="2000" i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i="1" dirty="0" smtClean="0">
                          <a:solidFill>
                            <a:srgbClr val="C00000"/>
                          </a:solidFill>
                        </a:rPr>
                        <a:t>Satış adı</a:t>
                      </a:r>
                      <a:endParaRPr lang="ru-RU" sz="2000" i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Либексин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Бутамират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Синекод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r>
                        <a:rPr lang="az-Latn-AZ" sz="2000" dirty="0" smtClean="0"/>
                        <a:t>Ko</a:t>
                      </a:r>
                      <a:r>
                        <a:rPr lang="ru-RU" sz="2000" dirty="0" smtClean="0"/>
                        <a:t>деин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2000" dirty="0" smtClean="0"/>
                        <a:t>Ko</a:t>
                      </a:r>
                      <a:r>
                        <a:rPr lang="ru-RU" sz="2000" dirty="0" smtClean="0"/>
                        <a:t>делак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Пятиугольник 6"/>
          <p:cNvSpPr/>
          <p:nvPr/>
        </p:nvSpPr>
        <p:spPr>
          <a:xfrm>
            <a:off x="0" y="0"/>
            <a:ext cx="978408" cy="484632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Latn-AZ" sz="4800" b="1" i="1" dirty="0" smtClean="0">
                <a:solidFill>
                  <a:srgbClr val="C00000"/>
                </a:solidFill>
              </a:rPr>
              <a:t>4</a:t>
            </a:r>
            <a:endParaRPr lang="en-GB" sz="4800" b="1" i="1" dirty="0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63688" y="155696"/>
            <a:ext cx="6768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i="1" dirty="0">
                <a:solidFill>
                  <a:srgbClr val="C00000"/>
                </a:solidFill>
              </a:rPr>
              <a:t>Противокашлевые средства</a:t>
            </a:r>
            <a:endParaRPr lang="en-GB" sz="3600" b="1" i="1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0328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Кашель — это защитный рефлекторный акт, направленный на очищение дыхательных путей от мокроты, слизи, инородных частиц и раздражителей.Рефлекс регулируется кашлевым центром, расположенным в продолговатом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мозге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Кашель удаляет мокроту и загрязнения, предупреждает закупорку дыхательных путей.Но длительный кашель может нарушать сон, вызывать утомление и ухудшать качество жизни.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207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22" y="0"/>
            <a:ext cx="6941556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1961964" y="25821"/>
            <a:ext cx="4914292" cy="458812"/>
          </a:xfrm>
        </p:spPr>
        <p:txBody>
          <a:bodyPr>
            <a:noAutofit/>
          </a:bodyPr>
          <a:lstStyle/>
          <a:p>
            <a:pPr algn="ctr"/>
            <a:r>
              <a:rPr lang="ru-RU" sz="3200" b="1" i="1" dirty="0">
                <a:solidFill>
                  <a:srgbClr val="C00000"/>
                </a:solidFill>
              </a:rPr>
              <a:t>Муколитики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773039112"/>
              </p:ext>
            </p:extLst>
          </p:nvPr>
        </p:nvGraphicFramePr>
        <p:xfrm>
          <a:off x="22920" y="2512321"/>
          <a:ext cx="9121080" cy="394292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33864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29791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48451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85221">
                <a:tc>
                  <a:txBody>
                    <a:bodyPr/>
                    <a:lstStyle/>
                    <a:p>
                      <a:pPr algn="ctr"/>
                      <a:r>
                        <a:rPr lang="az-Latn-AZ" sz="2400" i="1" dirty="0" smtClean="0">
                          <a:solidFill>
                            <a:srgbClr val="C00000"/>
                          </a:solidFill>
                        </a:rPr>
                        <a:t>Dərman adı </a:t>
                      </a:r>
                      <a:endParaRPr lang="ru-RU" sz="2400" i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i="1" dirty="0" smtClean="0">
                          <a:solidFill>
                            <a:srgbClr val="C00000"/>
                          </a:solidFill>
                        </a:rPr>
                        <a:t>Dozası </a:t>
                      </a:r>
                      <a:endParaRPr lang="ru-RU" sz="2400" i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i="1" dirty="0" smtClean="0">
                          <a:solidFill>
                            <a:srgbClr val="C00000"/>
                          </a:solidFill>
                        </a:rPr>
                        <a:t>Satış adı </a:t>
                      </a:r>
                      <a:endParaRPr lang="ru-RU" sz="2400" i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90672">
                <a:tc>
                  <a:txBody>
                    <a:bodyPr/>
                    <a:lstStyle/>
                    <a:p>
                      <a:r>
                        <a:rPr lang="az-Latn-AZ" sz="2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ru-RU" sz="2000" dirty="0" smtClean="0">
                          <a:solidFill>
                            <a:schemeClr val="tx1"/>
                          </a:solidFill>
                        </a:rPr>
                        <a:t>мброксол</a:t>
                      </a:r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2000" dirty="0" smtClean="0">
                          <a:solidFill>
                            <a:schemeClr val="tx1"/>
                          </a:solidFill>
                        </a:rPr>
                        <a:t>15 mg , 30 mg</a:t>
                      </a:r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solidFill>
                            <a:schemeClr val="tx1"/>
                          </a:solidFill>
                        </a:rPr>
                        <a:t>Лазолван,</a:t>
                      </a:r>
                      <a:r>
                        <a:rPr lang="ru-RU" sz="2000" baseline="0" dirty="0" smtClean="0">
                          <a:solidFill>
                            <a:schemeClr val="tx1"/>
                          </a:solidFill>
                        </a:rPr>
                        <a:t> Пульмоксол</a:t>
                      </a:r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17611">
                <a:tc>
                  <a:txBody>
                    <a:bodyPr/>
                    <a:lstStyle/>
                    <a:p>
                      <a:r>
                        <a:rPr lang="az-Latn-AZ" sz="2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ru-RU" sz="2000" dirty="0" smtClean="0">
                          <a:solidFill>
                            <a:schemeClr val="tx1"/>
                          </a:solidFill>
                        </a:rPr>
                        <a:t>цетилцистеин</a:t>
                      </a:r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2000" dirty="0" smtClean="0">
                          <a:solidFill>
                            <a:schemeClr val="tx1"/>
                          </a:solidFill>
                        </a:rPr>
                        <a:t>100,</a:t>
                      </a:r>
                      <a:r>
                        <a:rPr lang="az-Latn-AZ" sz="2000" baseline="0" dirty="0" smtClean="0">
                          <a:solidFill>
                            <a:schemeClr val="tx1"/>
                          </a:solidFill>
                        </a:rPr>
                        <a:t>200,</a:t>
                      </a:r>
                      <a:r>
                        <a:rPr lang="az-Latn-AZ" sz="2000" dirty="0" smtClean="0">
                          <a:solidFill>
                            <a:schemeClr val="tx1"/>
                          </a:solidFill>
                        </a:rPr>
                        <a:t>300,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600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mg</a:t>
                      </a:r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solidFill>
                            <a:schemeClr val="tx1"/>
                          </a:solidFill>
                        </a:rPr>
                        <a:t>АЦЦ</a:t>
                      </a:r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33858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solidFill>
                            <a:schemeClr val="tx1"/>
                          </a:solidFill>
                        </a:rPr>
                        <a:t>Карбоцистеин</a:t>
                      </a:r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az-Latn-AZ" sz="200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33858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solidFill>
                            <a:schemeClr val="tx1"/>
                          </a:solidFill>
                        </a:rPr>
                        <a:t>Бромгексин</a:t>
                      </a:r>
                      <a:r>
                        <a:rPr lang="az-Latn-AZ" sz="20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2000" dirty="0" smtClean="0">
                          <a:solidFill>
                            <a:schemeClr val="tx1"/>
                          </a:solidFill>
                        </a:rPr>
                        <a:t>4 və 8 mg</a:t>
                      </a:r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33858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solidFill>
                            <a:schemeClr val="tx1"/>
                          </a:solidFill>
                        </a:rPr>
                        <a:t>Алтея</a:t>
                      </a:r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33858">
                <a:tc>
                  <a:txBody>
                    <a:bodyPr/>
                    <a:lstStyle/>
                    <a:p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33858">
                <a:tc>
                  <a:txBody>
                    <a:bodyPr/>
                    <a:lstStyle/>
                    <a:p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33858">
                <a:tc>
                  <a:txBody>
                    <a:bodyPr/>
                    <a:lstStyle/>
                    <a:p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Пятиугольник 5"/>
          <p:cNvSpPr/>
          <p:nvPr/>
        </p:nvSpPr>
        <p:spPr>
          <a:xfrm>
            <a:off x="0" y="0"/>
            <a:ext cx="978408" cy="484632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Latn-AZ" sz="4800" b="1" i="1" dirty="0" smtClean="0">
                <a:solidFill>
                  <a:srgbClr val="C00000"/>
                </a:solidFill>
              </a:rPr>
              <a:t>5</a:t>
            </a:r>
            <a:endParaRPr lang="en-GB" sz="4800" b="1" i="1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920" y="404664"/>
            <a:ext cx="912108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Муколитики — это лекарственные средства, которые разжижают густую, вязкую мокроту, делая её более жидкой и лёгкой для откашливания.Благодаря этому улучшается очищение дыхательных путей и уменьшается кашель.Муколитики не подавляют кашлевой рефлекс, а наоборот помогают организму очистить бронхи. Применяются при бронхите, трахеите, бронхопневмонии, ХОБЛ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❗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Муколитики нельзя сочетать с противокашлевыми препаратами (кодеин, бутамират) — мокрота разжижается, но кашель блокируется → риск застоя и осложнений.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425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525</TotalTime>
  <Words>303</Words>
  <Application>Microsoft Office PowerPoint</Application>
  <PresentationFormat>On-screen Show (4:3)</PresentationFormat>
  <Paragraphs>68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Тема Office</vt:lpstr>
      <vt:lpstr>PowerPoint Presentation</vt:lpstr>
      <vt:lpstr>Глюкокортикостероиды</vt:lpstr>
      <vt:lpstr>PowerPoint Presentation</vt:lpstr>
      <vt:lpstr>PowerPoint Presentation</vt:lpstr>
      <vt:lpstr>Муколитики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DR.DİLMAN</dc:title>
  <dc:creator>Aysel</dc:creator>
  <cp:lastModifiedBy>Seymur</cp:lastModifiedBy>
  <cp:revision>38</cp:revision>
  <dcterms:created xsi:type="dcterms:W3CDTF">2020-02-10T11:23:44Z</dcterms:created>
  <dcterms:modified xsi:type="dcterms:W3CDTF">2026-03-10T12:13:39Z</dcterms:modified>
</cp:coreProperties>
</file>