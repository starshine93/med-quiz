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65" r:id="rId2"/>
    <p:sldId id="266" r:id="rId3"/>
    <p:sldId id="258" r:id="rId4"/>
    <p:sldId id="267" r:id="rId5"/>
    <p:sldId id="262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3296810-A885-4BE3-A3E7-6D5BEEA58F35}" styleName="Средний стиль 2 -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269D01E-BC32-4049-B463-5C60D7B0CCD2}" styleName="Стиль из темы 2 - акцент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E3FDE45-AF77-4B5C-9715-49D594BDF05E}" styleName="Светлый стиль 1 - акцент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DA37D80-6434-44D0-A028-1B22A696006F}" styleName="Светлый стиль 3 -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91" autoAdjust="0"/>
    <p:restoredTop sz="94660"/>
  </p:normalViewPr>
  <p:slideViewPr>
    <p:cSldViewPr>
      <p:cViewPr varScale="1">
        <p:scale>
          <a:sx n="87" d="100"/>
          <a:sy n="87" d="100"/>
        </p:scale>
        <p:origin x="1206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F2669-12BD-4DDF-A8B8-84A001FFFF8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69686-05F5-42E7-9797-78A58AE0B8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45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F2669-12BD-4DDF-A8B8-84A001FFFF8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69686-05F5-42E7-9797-78A58AE0B8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556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F2669-12BD-4DDF-A8B8-84A001FFFF8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69686-05F5-42E7-9797-78A58AE0B8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328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F2669-12BD-4DDF-A8B8-84A001FFFF8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69686-05F5-42E7-9797-78A58AE0B8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585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F2669-12BD-4DDF-A8B8-84A001FFFF8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69686-05F5-42E7-9797-78A58AE0B8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026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F2669-12BD-4DDF-A8B8-84A001FFFF8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69686-05F5-42E7-9797-78A58AE0B8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881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F2669-12BD-4DDF-A8B8-84A001FFFF8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69686-05F5-42E7-9797-78A58AE0B8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18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F2669-12BD-4DDF-A8B8-84A001FFFF8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69686-05F5-42E7-9797-78A58AE0B8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84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F2669-12BD-4DDF-A8B8-84A001FFFF8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69686-05F5-42E7-9797-78A58AE0B8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866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F2669-12BD-4DDF-A8B8-84A001FFFF8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69686-05F5-42E7-9797-78A58AE0B8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687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F2669-12BD-4DDF-A8B8-84A001FFFF8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69686-05F5-42E7-9797-78A58AE0B8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308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0F2669-12BD-4DDF-A8B8-84A001FFFF8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969686-05F5-42E7-9797-78A58AE0B8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634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222" y="0"/>
            <a:ext cx="6941556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99592" y="548680"/>
            <a:ext cx="74888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b="1" i="1" dirty="0">
                <a:solidFill>
                  <a:srgbClr val="C00000"/>
                </a:solidFill>
              </a:rPr>
              <a:t>Дыхательная система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07704" y="2828835"/>
            <a:ext cx="532859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i="1" dirty="0" smtClean="0">
                <a:solidFill>
                  <a:srgbClr val="C00000"/>
                </a:solidFill>
              </a:rPr>
              <a:t>Бронходилататоры</a:t>
            </a:r>
            <a:r>
              <a:rPr lang="ru-RU" sz="3600" i="1" dirty="0">
                <a:solidFill>
                  <a:srgbClr val="C00000"/>
                </a:solidFill>
              </a:rPr>
              <a:t>. Антигистаминные </a:t>
            </a:r>
            <a:r>
              <a:rPr lang="ru-RU" sz="3600" i="1" dirty="0" smtClean="0">
                <a:solidFill>
                  <a:srgbClr val="C00000"/>
                </a:solidFill>
              </a:rPr>
              <a:t>препараты.</a:t>
            </a:r>
            <a:endParaRPr lang="en-US" sz="3600" i="1" dirty="0">
              <a:solidFill>
                <a:srgbClr val="C00000"/>
              </a:solidFill>
            </a:endParaRPr>
          </a:p>
        </p:txBody>
      </p:sp>
      <p:sp>
        <p:nvSpPr>
          <p:cNvPr id="7" name="Pentagon 6"/>
          <p:cNvSpPr/>
          <p:nvPr/>
        </p:nvSpPr>
        <p:spPr>
          <a:xfrm>
            <a:off x="0" y="0"/>
            <a:ext cx="1101222" cy="548680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z-Latn-AZ" sz="4800" b="1" dirty="0" smtClean="0">
                <a:solidFill>
                  <a:srgbClr val="C00000"/>
                </a:solidFill>
              </a:rPr>
              <a:t>1</a:t>
            </a:r>
            <a:endParaRPr lang="en-US" sz="4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1943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222" y="0"/>
            <a:ext cx="6941556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 flipH="1">
            <a:off x="1101218" y="-61937"/>
            <a:ext cx="80427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i="1">
                <a:solidFill>
                  <a:srgbClr val="C00000"/>
                </a:solidFill>
              </a:rPr>
              <a:t>Бронходилататоры</a:t>
            </a:r>
            <a:endParaRPr lang="en-US" sz="3200" b="1" i="1" dirty="0">
              <a:solidFill>
                <a:srgbClr val="C00000"/>
              </a:solidFill>
            </a:endParaRPr>
          </a:p>
        </p:txBody>
      </p:sp>
      <p:sp>
        <p:nvSpPr>
          <p:cNvPr id="6" name="Pentagon 5"/>
          <p:cNvSpPr/>
          <p:nvPr/>
        </p:nvSpPr>
        <p:spPr>
          <a:xfrm>
            <a:off x="-1" y="0"/>
            <a:ext cx="1101221" cy="476672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z-Latn-AZ" sz="4800" b="1" dirty="0">
                <a:solidFill>
                  <a:srgbClr val="C00000"/>
                </a:solidFill>
              </a:rPr>
              <a:t>2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-11802" y="512626"/>
            <a:ext cx="914400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Бронходилататоры — это препараты, которые расширяют просвет бронхов и облегчают дыхание. Они снимают спазм гладкой мускулатуры бронхов, уменьшают сопротивление дыхательных путей и улучшают вентиляцию лёгких.Используются при бронхиальной астме, ХОБЛ, обострениях бронхоспазма, некоторых острых инфекциях дыхательных путей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Дилатация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расширение. </a:t>
            </a:r>
            <a:endParaRPr lang="en-US" sz="20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Побочные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эффекты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бронходилататоров: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тремор рук, сердцебиение, тахикардия, чувство тревоги, возбуждение, головная боль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Ингаляция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это способ введения лекарственных веществ через дыхательные пути в виде аэрозоля, пара или мелких капель с помощью специального аппарата. </a:t>
            </a:r>
            <a:r>
              <a:rPr lang="ru-RU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Небулайзер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это устройство, которое превращает жидкое лекарство в мелкодисперсный аэрозоль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Он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обеспечивает глубокое проникновение препарата в дыхательные пути и подходит для пациентов любого возраста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Небулайзер состоит из: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Компрессора; Камеры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лекарства; Воздушной трубки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шланга); 2 масок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для взрослых и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детей); Фильтра.</a:t>
            </a:r>
          </a:p>
          <a:p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Через небулайзер обычно вводят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Беродуал ;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Ипратропий; Вентолин; Будесонид/Пульмикорт; Физиологический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раствор для увлажнения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1146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222" y="0"/>
            <a:ext cx="6941556" cy="6858000"/>
          </a:xfrm>
          <a:prstGeom prst="rect">
            <a:avLst/>
          </a:prstGeom>
        </p:spPr>
      </p:pic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5506532"/>
              </p:ext>
            </p:extLst>
          </p:nvPr>
        </p:nvGraphicFramePr>
        <p:xfrm>
          <a:off x="23776" y="620688"/>
          <a:ext cx="9127587" cy="60540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04252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04252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04252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88660">
                <a:tc>
                  <a:txBody>
                    <a:bodyPr/>
                    <a:lstStyle/>
                    <a:p>
                      <a:pPr algn="ctr"/>
                      <a:r>
                        <a:rPr lang="az-Latn-AZ" sz="2800" dirty="0" smtClean="0">
                          <a:solidFill>
                            <a:srgbClr val="C00000"/>
                          </a:solidFill>
                        </a:rPr>
                        <a:t>    </a:t>
                      </a:r>
                      <a:r>
                        <a:rPr lang="ru-RU" sz="2800" dirty="0" smtClean="0">
                          <a:solidFill>
                            <a:srgbClr val="C00000"/>
                          </a:solidFill>
                        </a:rPr>
                        <a:t>Действующее вещество</a:t>
                      </a:r>
                      <a:endParaRPr lang="en-US" sz="2800" b="1" i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z-Latn-AZ" sz="2800" dirty="0" smtClean="0"/>
                        <a:t>   </a:t>
                      </a:r>
                      <a:r>
                        <a:rPr lang="ru-RU" sz="2800" i="1" dirty="0" smtClean="0">
                          <a:solidFill>
                            <a:srgbClr val="C00000"/>
                          </a:solidFill>
                        </a:rPr>
                        <a:t>Доза препарата</a:t>
                      </a:r>
                      <a:endParaRPr lang="en-US" sz="2800" b="0" i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i="1" dirty="0" smtClean="0">
                          <a:solidFill>
                            <a:srgbClr val="C00000"/>
                          </a:solidFill>
                        </a:rPr>
                        <a:t>Торговое наименование</a:t>
                      </a:r>
                      <a:endParaRPr lang="en-US" sz="2800" b="0" i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50872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Эфедрин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z-Latn-AZ" sz="2400" dirty="0" smtClean="0"/>
                        <a:t>50mg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Бронхолитин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8866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Сальбутамол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z-Latn-AZ" sz="2400" dirty="0" smtClean="0"/>
                        <a:t>200mg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Вентолин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63468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Флутиказон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z-Latn-AZ" sz="2400" dirty="0" smtClean="0"/>
                        <a:t>50,100,250,500mg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Серетид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8866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Фенотерол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z-Latn-AZ" sz="2400" dirty="0" smtClean="0"/>
                        <a:t>100mkg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Беротек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8866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Ипратропия</a:t>
                      </a:r>
                      <a:r>
                        <a:rPr lang="ru-RU" sz="2400" baseline="0" dirty="0" smtClean="0"/>
                        <a:t> бромид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z-Latn-AZ" sz="2400" dirty="0" smtClean="0"/>
                        <a:t>500mkg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z-Latn-AZ" sz="2400" dirty="0" smtClean="0"/>
                        <a:t>A</a:t>
                      </a:r>
                      <a:r>
                        <a:rPr lang="ru-RU" sz="2400" dirty="0" smtClean="0"/>
                        <a:t>тровент</a:t>
                      </a:r>
                      <a:endParaRPr lang="az-Latn-AZ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8866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z-Latn-AZ" sz="1800" b="0" dirty="0" smtClean="0">
                          <a:latin typeface="+mn-lt"/>
                        </a:rPr>
                        <a:t> </a:t>
                      </a:r>
                      <a:r>
                        <a:rPr lang="ru-RU" sz="1800" b="0" dirty="0" smtClean="0">
                          <a:latin typeface="+mn-lt"/>
                        </a:rPr>
                        <a:t>Фенотерол +Ипратропия</a:t>
                      </a:r>
                      <a:r>
                        <a:rPr lang="ru-RU" sz="1800" b="0" baseline="0" dirty="0" smtClean="0">
                          <a:latin typeface="+mn-lt"/>
                        </a:rPr>
                        <a:t> бромид</a:t>
                      </a:r>
                      <a:endParaRPr lang="en-US" sz="1800" b="0" dirty="0" smtClean="0">
                        <a:latin typeface="+mn-lt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 smtClean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z-Latn-AZ" sz="2400" dirty="0" smtClean="0"/>
                        <a:t>50mkg/20mkg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Беродуал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588660">
                <a:tc>
                  <a:txBody>
                    <a:bodyPr/>
                    <a:lstStyle/>
                    <a:p>
                      <a:r>
                        <a:rPr lang="az-Latn-AZ" sz="2400" dirty="0" smtClean="0"/>
                        <a:t>Teo</a:t>
                      </a:r>
                      <a:r>
                        <a:rPr lang="ru-RU" sz="2400" dirty="0" smtClean="0"/>
                        <a:t>филлин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z-Latn-AZ" sz="2400" dirty="0" smtClean="0"/>
                        <a:t>200 və 350 mg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z-Latn-AZ" sz="2400" dirty="0" smtClean="0"/>
                        <a:t>T</a:t>
                      </a:r>
                      <a:r>
                        <a:rPr lang="ru-RU" sz="2400" smtClean="0"/>
                        <a:t>еопек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58866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Эуфиллин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z-Latn-AZ" sz="2400" dirty="0" smtClean="0"/>
                        <a:t>150mg-tab</a:t>
                      </a:r>
                      <a:r>
                        <a:rPr lang="az-Latn-AZ" dirty="0" smtClean="0"/>
                        <a:t>  </a:t>
                      </a:r>
                      <a:r>
                        <a:rPr lang="az-Latn-AZ" sz="2000" dirty="0" smtClean="0"/>
                        <a:t>24mg/ml-sol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  <p:sp>
        <p:nvSpPr>
          <p:cNvPr id="3" name="Pentagon 2"/>
          <p:cNvSpPr/>
          <p:nvPr/>
        </p:nvSpPr>
        <p:spPr>
          <a:xfrm>
            <a:off x="0" y="0"/>
            <a:ext cx="978408" cy="484632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z-Latn-AZ" sz="4000" b="1" dirty="0" smtClean="0">
                <a:solidFill>
                  <a:srgbClr val="C00000"/>
                </a:solidFill>
              </a:rPr>
              <a:t>3</a:t>
            </a:r>
            <a:endParaRPr 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4416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-5861"/>
            <a:ext cx="6941556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79712" y="0"/>
            <a:ext cx="6840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i="1" dirty="0">
                <a:solidFill>
                  <a:srgbClr val="C00000"/>
                </a:solidFill>
              </a:rPr>
              <a:t>Антигистаминные препараты	</a:t>
            </a:r>
            <a:endParaRPr lang="en-US" sz="2800" b="1" i="1" dirty="0">
              <a:solidFill>
                <a:srgbClr val="C00000"/>
              </a:solidFill>
            </a:endParaRPr>
          </a:p>
        </p:txBody>
      </p:sp>
      <p:sp>
        <p:nvSpPr>
          <p:cNvPr id="6" name="Pentagon 5"/>
          <p:cNvSpPr/>
          <p:nvPr/>
        </p:nvSpPr>
        <p:spPr>
          <a:xfrm>
            <a:off x="0" y="0"/>
            <a:ext cx="1115616" cy="484632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rgbClr val="C00000"/>
                </a:solidFill>
              </a:rPr>
              <a:t>4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394" y="668539"/>
            <a:ext cx="91440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Антигистаминные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лекарственные средства блокируют действие гистамина в организме и устраняют вызываемые им проявления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Гистамин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эндогенное вещество, то есть образуется в организме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человека. Чрезмерное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образование гистамина может привести к таким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последствиям как: сужение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бронхов, зуд, кожная сыпь, чихание и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др. Основная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причина повышения уровня гистамина — попадание в организм аллергенов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Вещества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вызывающие аллергическую реакцию, называются </a:t>
            </a:r>
            <a:r>
              <a:rPr lang="ru-RU" sz="22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АЛЛЕРГЕНАМИ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К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аллергенам относятся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пыльца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растений, цитрусовые,некоторые лекарственные препараты (особенно антибиотики),шерсть животных и др.	</a:t>
            </a:r>
          </a:p>
          <a:p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Антигистаминные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препараты не уменьшают количество гистамина — они лишь блокируют его действие в организме, устраняя вызываемые им симптомы.	</a:t>
            </a:r>
          </a:p>
          <a:p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Побочные </a:t>
            </a:r>
            <a:r>
              <a:rPr lang="ru-RU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эффекты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:сонливость, лёгкий успокоительный эффект.	</a:t>
            </a:r>
            <a:endParaRPr lang="ru-RU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Дополнительные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области применения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как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противокашлевое средство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для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снижения раздражения в послеоперационный период.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4908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222" y="0"/>
            <a:ext cx="6941556" cy="6858000"/>
          </a:xfrm>
          <a:prstGeom prst="rect">
            <a:avLst/>
          </a:prstGeom>
        </p:spPr>
      </p:pic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3817407"/>
              </p:ext>
            </p:extLst>
          </p:nvPr>
        </p:nvGraphicFramePr>
        <p:xfrm>
          <a:off x="0" y="620688"/>
          <a:ext cx="9144000" cy="60553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854643">
                <a:tc>
                  <a:txBody>
                    <a:bodyPr/>
                    <a:lstStyle/>
                    <a:p>
                      <a:pPr algn="ctr"/>
                      <a:r>
                        <a:rPr lang="ru-RU" sz="2800" dirty="0" smtClean="0">
                          <a:effectLst/>
                        </a:rPr>
                        <a:t>Действующее вещество</a:t>
                      </a:r>
                      <a:endParaRPr lang="ru-RU" sz="2800" b="1" i="1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 smtClean="0">
                          <a:effectLst/>
                        </a:rPr>
                        <a:t>Доза препарата</a:t>
                      </a:r>
                      <a:endParaRPr lang="ru-RU" sz="2800" i="1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 smtClean="0">
                          <a:effectLst/>
                        </a:rPr>
                        <a:t>Торговое наименование</a:t>
                      </a:r>
                      <a:endParaRPr lang="ru-RU" sz="2800" i="1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33065582"/>
                  </a:ext>
                </a:extLst>
              </a:tr>
              <a:tr h="391737"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effectLst/>
                        </a:rPr>
                        <a:t>Дифенгидрамин</a:t>
                      </a:r>
                      <a:endParaRPr lang="ru-RU" sz="146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z-Latn-AZ" sz="1800" dirty="0" smtClean="0">
                          <a:effectLst/>
                        </a:rPr>
                        <a:t>10 mg</a:t>
                      </a:r>
                      <a:endParaRPr lang="ru-RU" sz="180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effectLst/>
                        </a:rPr>
                        <a:t>Димедрол</a:t>
                      </a:r>
                      <a:endParaRPr lang="ru-RU" sz="1800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63632">
                <a:tc>
                  <a:txBody>
                    <a:bodyPr/>
                    <a:lstStyle/>
                    <a:p>
                      <a:r>
                        <a:rPr lang="az-Latn-AZ" sz="1800" dirty="0" smtClean="0">
                          <a:effectLst/>
                        </a:rPr>
                        <a:t>X</a:t>
                      </a:r>
                      <a:r>
                        <a:rPr lang="ru-RU" sz="1800" dirty="0" smtClean="0">
                          <a:effectLst/>
                        </a:rPr>
                        <a:t>лоропирамин</a:t>
                      </a:r>
                      <a:endParaRPr lang="ru-RU" sz="146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z-Latn-AZ" sz="1800" dirty="0" smtClean="0">
                          <a:effectLst/>
                        </a:rPr>
                        <a:t>25mg</a:t>
                      </a:r>
                      <a:endParaRPr lang="ru-RU" sz="180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effectLst/>
                        </a:rPr>
                        <a:t>Супрастин</a:t>
                      </a:r>
                      <a:endParaRPr lang="ru-RU" sz="1460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83072">
                <a:tc>
                  <a:txBody>
                    <a:bodyPr/>
                    <a:lstStyle/>
                    <a:p>
                      <a:r>
                        <a:rPr lang="az-Latn-AZ" sz="1800" dirty="0" smtClean="0">
                          <a:effectLst/>
                        </a:rPr>
                        <a:t>Me</a:t>
                      </a:r>
                      <a:r>
                        <a:rPr lang="ru-RU" sz="1800" dirty="0" smtClean="0">
                          <a:effectLst/>
                        </a:rPr>
                        <a:t>бгидролин</a:t>
                      </a:r>
                      <a:endParaRPr lang="ru-RU" sz="146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z-Latn-AZ" sz="1800" baseline="0" dirty="0" smtClean="0">
                          <a:effectLst/>
                        </a:rPr>
                        <a:t>50 və 100mg</a:t>
                      </a:r>
                      <a:endParaRPr lang="ru-RU" sz="180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effectLst/>
                        </a:rPr>
                        <a:t>Диозалин</a:t>
                      </a:r>
                      <a:endParaRPr lang="ru-RU" sz="1460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35302">
                <a:tc>
                  <a:txBody>
                    <a:bodyPr/>
                    <a:lstStyle/>
                    <a:p>
                      <a:r>
                        <a:rPr lang="az-Latn-AZ" sz="1800" dirty="0" smtClean="0">
                          <a:effectLst/>
                        </a:rPr>
                        <a:t>Mo</a:t>
                      </a:r>
                      <a:r>
                        <a:rPr lang="ru-RU" sz="1800" dirty="0" smtClean="0">
                          <a:effectLst/>
                        </a:rPr>
                        <a:t>нтелукаст</a:t>
                      </a:r>
                      <a:endParaRPr lang="ru-RU" sz="146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z-Latn-AZ" sz="1800" dirty="0" smtClean="0">
                          <a:effectLst/>
                        </a:rPr>
                        <a:t>4</a:t>
                      </a:r>
                      <a:r>
                        <a:rPr lang="en-US" sz="1800" dirty="0" smtClean="0">
                          <a:effectLst/>
                        </a:rPr>
                        <a:t> </a:t>
                      </a:r>
                      <a:r>
                        <a:rPr lang="az-Latn-AZ" sz="1800" dirty="0" smtClean="0">
                          <a:effectLst/>
                        </a:rPr>
                        <a:t>;</a:t>
                      </a:r>
                      <a:r>
                        <a:rPr lang="en-US" sz="1800" dirty="0" smtClean="0">
                          <a:effectLst/>
                        </a:rPr>
                        <a:t> </a:t>
                      </a:r>
                      <a:r>
                        <a:rPr lang="az-Latn-AZ" sz="1800" dirty="0" smtClean="0">
                          <a:effectLst/>
                        </a:rPr>
                        <a:t>5</a:t>
                      </a:r>
                      <a:r>
                        <a:rPr lang="az-Latn-AZ" sz="1800" baseline="0" dirty="0" smtClean="0">
                          <a:effectLst/>
                        </a:rPr>
                        <a:t> və 10 mg</a:t>
                      </a:r>
                      <a:endParaRPr lang="ru-RU" sz="180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aseline="0" dirty="0" smtClean="0">
                          <a:effectLst/>
                        </a:rPr>
                        <a:t>Лукастин</a:t>
                      </a:r>
                      <a:r>
                        <a:rPr lang="az-Latn-AZ" sz="1460" baseline="0" dirty="0" smtClean="0">
                          <a:effectLst/>
                        </a:rPr>
                        <a:t> </a:t>
                      </a:r>
                      <a:endParaRPr lang="ru-RU" sz="1460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83072"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effectLst/>
                        </a:rPr>
                        <a:t>Клемастин</a:t>
                      </a:r>
                      <a:endParaRPr lang="ru-RU" sz="146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z-Latn-AZ" sz="1800" dirty="0" smtClean="0">
                          <a:effectLst/>
                        </a:rPr>
                        <a:t>1mg</a:t>
                      </a:r>
                      <a:endParaRPr lang="ru-RU" sz="180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effectLst/>
                        </a:rPr>
                        <a:t>Тавегил</a:t>
                      </a:r>
                      <a:endParaRPr lang="ru-RU" sz="1460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32084">
                <a:tc>
                  <a:txBody>
                    <a:bodyPr/>
                    <a:lstStyle/>
                    <a:p>
                      <a:r>
                        <a:rPr lang="ru-RU" sz="2000" baseline="0" dirty="0" smtClean="0">
                          <a:effectLst/>
                        </a:rPr>
                        <a:t>Цетиризин</a:t>
                      </a:r>
                      <a:endParaRPr lang="en-US" sz="1460" baseline="0" dirty="0" smtClean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z-Latn-AZ" sz="1800" dirty="0" smtClean="0">
                          <a:effectLst/>
                        </a:rPr>
                        <a:t>10mg</a:t>
                      </a:r>
                      <a:endParaRPr lang="az-Latn-AZ" sz="1460" dirty="0" smtClean="0">
                        <a:effectLst/>
                      </a:endParaRPr>
                    </a:p>
                    <a:p>
                      <a:endParaRPr lang="ru-RU" sz="146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 smtClean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63632"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effectLst/>
                        </a:rPr>
                        <a:t>Левоцитеризин</a:t>
                      </a:r>
                      <a:endParaRPr lang="ru-RU" sz="146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z-Latn-AZ" sz="1800" dirty="0" smtClean="0">
                          <a:effectLst/>
                        </a:rPr>
                        <a:t>5mg</a:t>
                      </a:r>
                      <a:endParaRPr lang="ru-RU" sz="140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effectLst/>
                        </a:rPr>
                        <a:t>Лесетрин</a:t>
                      </a:r>
                      <a:endParaRPr lang="ru-RU" sz="1460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752863339"/>
                  </a:ext>
                </a:extLst>
              </a:tr>
              <a:tr h="361488"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effectLst/>
                        </a:rPr>
                        <a:t>Лоратадин</a:t>
                      </a:r>
                      <a:endParaRPr lang="ru-RU" sz="146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z-Latn-AZ" sz="1800" dirty="0" smtClean="0">
                          <a:effectLst/>
                        </a:rPr>
                        <a:t>10mg</a:t>
                      </a:r>
                      <a:endParaRPr lang="ru-RU" sz="180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effectLst/>
                        </a:rPr>
                        <a:t>Кларитин</a:t>
                      </a:r>
                      <a:endParaRPr lang="ru-RU" sz="1800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90787">
                <a:tc>
                  <a:txBody>
                    <a:bodyPr/>
                    <a:lstStyle/>
                    <a:p>
                      <a:r>
                        <a:rPr lang="ru-RU" sz="1800" baseline="0" dirty="0" smtClean="0">
                          <a:effectLst/>
                        </a:rPr>
                        <a:t>Деслоратадин</a:t>
                      </a:r>
                      <a:r>
                        <a:rPr lang="az-Latn-AZ" sz="1460" baseline="0" dirty="0" smtClean="0">
                          <a:effectLst/>
                        </a:rPr>
                        <a:t> </a:t>
                      </a:r>
                      <a:endParaRPr lang="ru-RU" sz="146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z-Latn-AZ" sz="1800" dirty="0" smtClean="0">
                          <a:effectLst/>
                        </a:rPr>
                        <a:t>5mg</a:t>
                      </a:r>
                      <a:endParaRPr lang="ru-RU" sz="180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aseline="0" dirty="0" smtClean="0">
                          <a:effectLst/>
                        </a:rPr>
                        <a:t>Деслор</a:t>
                      </a:r>
                      <a:endParaRPr lang="ru-RU" sz="1800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90787"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effectLst/>
                        </a:rPr>
                        <a:t>Фексофенадин</a:t>
                      </a:r>
                      <a:endParaRPr lang="ru-RU" sz="146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z-Latn-AZ" sz="1800" dirty="0" smtClean="0">
                          <a:effectLst/>
                        </a:rPr>
                        <a:t>120</a:t>
                      </a:r>
                      <a:r>
                        <a:rPr lang="az-Latn-AZ" sz="1800" baseline="0" dirty="0" smtClean="0">
                          <a:effectLst/>
                        </a:rPr>
                        <a:t> və 180 mg</a:t>
                      </a:r>
                      <a:endParaRPr lang="ru-RU" sz="180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effectLst/>
                        </a:rPr>
                        <a:t>Фексофен</a:t>
                      </a:r>
                      <a:endParaRPr lang="ru-RU" sz="1800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90787"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Кетотифен</a:t>
                      </a:r>
                      <a:endParaRPr lang="ru-RU" sz="18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6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effectLst/>
                        </a:rPr>
                        <a:t>Сосафен</a:t>
                      </a:r>
                      <a:endParaRPr lang="ru-RU" sz="1800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463632"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effectLst/>
                        </a:rPr>
                        <a:t>Прометазин</a:t>
                      </a:r>
                      <a:endParaRPr lang="ru-RU" sz="146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z-Latn-AZ" sz="1800" dirty="0" smtClean="0">
                          <a:effectLst/>
                        </a:rPr>
                        <a:t>50mg</a:t>
                      </a:r>
                      <a:endParaRPr lang="ru-RU" sz="180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effectLst/>
                        </a:rPr>
                        <a:t>Пипольфен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</a:tbl>
          </a:graphicData>
        </a:graphic>
      </p:graphicFrame>
      <p:sp>
        <p:nvSpPr>
          <p:cNvPr id="3" name="Pentagon 2"/>
          <p:cNvSpPr/>
          <p:nvPr/>
        </p:nvSpPr>
        <p:spPr>
          <a:xfrm>
            <a:off x="0" y="0"/>
            <a:ext cx="1115616" cy="476672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z-Latn-AZ" sz="4800" b="1" dirty="0" smtClean="0">
                <a:solidFill>
                  <a:srgbClr val="C00000"/>
                </a:solidFill>
              </a:rPr>
              <a:t>5</a:t>
            </a:r>
            <a:endParaRPr 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6654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1403</TotalTime>
  <Words>358</Words>
  <Application>Microsoft Office PowerPoint</Application>
  <PresentationFormat>On-screen Show (4:3)</PresentationFormat>
  <Paragraphs>86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DR.dİlman</dc:title>
  <dc:creator>doctor</dc:creator>
  <cp:lastModifiedBy>Seymur</cp:lastModifiedBy>
  <cp:revision>79</cp:revision>
  <dcterms:created xsi:type="dcterms:W3CDTF">2019-09-13T11:32:06Z</dcterms:created>
  <dcterms:modified xsi:type="dcterms:W3CDTF">2026-03-07T08:00:17Z</dcterms:modified>
</cp:coreProperties>
</file>