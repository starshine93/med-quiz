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62" r:id="rId4"/>
    <p:sldId id="263" r:id="rId5"/>
    <p:sldId id="264" r:id="rId6"/>
    <p:sldId id="258" r:id="rId7"/>
    <p:sldId id="259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55224-5AE2-47A2-83DB-CD23111230D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F78A7-4F75-4075-ABDB-41BFDC5F5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6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5F78A7-4F75-4075-ABDB-41BFDC5F5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0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29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859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19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53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94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22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504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73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005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075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8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7911A-9A89-4768-B0B2-1B13D9694F0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7FF83-C557-4008-820F-21888A662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987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19672" y="2708920"/>
            <a:ext cx="5635179" cy="2085226"/>
          </a:xfrm>
        </p:spPr>
        <p:txBody>
          <a:bodyPr>
            <a:normAutofit/>
          </a:bodyPr>
          <a:lstStyle/>
          <a:p>
            <a:r>
              <a:rPr lang="ru-RU" sz="6000" b="1" i="1" dirty="0">
                <a:solidFill>
                  <a:srgbClr val="C00000"/>
                </a:solidFill>
              </a:rPr>
              <a:t>Антибиотики</a:t>
            </a:r>
          </a:p>
        </p:txBody>
      </p:sp>
      <p:sp>
        <p:nvSpPr>
          <p:cNvPr id="5" name="Овал 4"/>
          <p:cNvSpPr/>
          <p:nvPr/>
        </p:nvSpPr>
        <p:spPr>
          <a:xfrm>
            <a:off x="155934" y="11663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264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z-Latn-AZ" sz="2200" dirty="0" smtClean="0"/>
              <a:t> 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b="1" i="1" dirty="0" smtClean="0"/>
              <a:t>Антибиотики</a:t>
            </a:r>
            <a:r>
              <a:rPr lang="ru-RU" sz="2200" dirty="0" smtClean="0"/>
              <a:t> </a:t>
            </a:r>
            <a:r>
              <a:rPr lang="ru-RU" sz="2200" dirty="0"/>
              <a:t>— это лекарственные препараты, предназначенные для борьбы с заболеваниями, вызванными бактериальной микрофлорой. Важно помнить, что антибиотики эффективны только против бактерий и не действуют на вирусы (например, при гриппе или ОРВИ</a:t>
            </a:r>
            <a:r>
              <a:rPr lang="ru-RU" sz="2200" dirty="0" smtClean="0"/>
              <a:t>).</a:t>
            </a:r>
            <a:endParaRPr lang="en-US" sz="2200" dirty="0" smtClean="0"/>
          </a:p>
          <a:p>
            <a:pPr marL="0" indent="0">
              <a:buNone/>
            </a:pPr>
            <a:r>
              <a:rPr lang="ru-RU" sz="2200" b="1" u="sng" dirty="0" smtClean="0"/>
              <a:t>Инфекционные </a:t>
            </a:r>
            <a:r>
              <a:rPr lang="ru-RU" sz="2200" b="1" u="sng" dirty="0"/>
              <a:t>заболевания классифицируются по источнику заражения</a:t>
            </a:r>
            <a:r>
              <a:rPr lang="ru-RU" sz="2200" u="sng" dirty="0" smtClean="0"/>
              <a:t>:</a:t>
            </a:r>
            <a:endParaRPr lang="en-US" sz="2200" u="sng" dirty="0" smtClean="0"/>
          </a:p>
          <a:p>
            <a:pPr marL="0" indent="0">
              <a:buNone/>
            </a:pPr>
            <a:r>
              <a:rPr lang="ru-RU" sz="2200" b="1" i="1" dirty="0" smtClean="0"/>
              <a:t>Антропонозы</a:t>
            </a:r>
            <a:r>
              <a:rPr lang="ru-RU" sz="2200" dirty="0" smtClean="0"/>
              <a:t> </a:t>
            </a:r>
            <a:r>
              <a:rPr lang="ru-RU" sz="2200" dirty="0"/>
              <a:t>— источником инфекции является только человек</a:t>
            </a:r>
            <a:r>
              <a:rPr lang="ru-RU" sz="2200" dirty="0" smtClean="0"/>
              <a:t>.</a:t>
            </a:r>
            <a:endParaRPr lang="en-US" sz="2200" dirty="0" smtClean="0"/>
          </a:p>
          <a:p>
            <a:pPr marL="0" indent="0">
              <a:buNone/>
            </a:pPr>
            <a:r>
              <a:rPr lang="ru-RU" sz="2200" b="1" i="1" dirty="0" smtClean="0"/>
              <a:t>Зоонозы</a:t>
            </a:r>
            <a:r>
              <a:rPr lang="ru-RU" sz="2200" dirty="0" smtClean="0"/>
              <a:t> </a:t>
            </a:r>
            <a:r>
              <a:rPr lang="ru-RU" sz="2200" dirty="0"/>
              <a:t>— инфекции, передающиеся человеку от </a:t>
            </a:r>
            <a:r>
              <a:rPr lang="ru-RU" sz="2200" dirty="0" smtClean="0"/>
              <a:t>животных.</a:t>
            </a:r>
            <a:endParaRPr lang="en-US" sz="2200" dirty="0" smtClean="0"/>
          </a:p>
          <a:p>
            <a:pPr marL="0" indent="0">
              <a:buNone/>
            </a:pPr>
            <a:r>
              <a:rPr lang="ru-RU" sz="2200" b="1" u="sng" dirty="0" smtClean="0"/>
              <a:t>Пути </a:t>
            </a:r>
            <a:r>
              <a:rPr lang="ru-RU" sz="2200" b="1" u="sng" dirty="0"/>
              <a:t>передачи </a:t>
            </a:r>
            <a:r>
              <a:rPr lang="ru-RU" sz="2200" b="1" u="sng" dirty="0" smtClean="0"/>
              <a:t>инфекции</a:t>
            </a:r>
            <a:endParaRPr lang="en-US" sz="2200" b="1" u="sng" dirty="0" smtClean="0"/>
          </a:p>
          <a:p>
            <a:pPr marL="0" indent="0">
              <a:buNone/>
            </a:pPr>
            <a:r>
              <a:rPr lang="ru-RU" sz="2200" dirty="0" smtClean="0"/>
              <a:t>Аэрогенный </a:t>
            </a:r>
            <a:r>
              <a:rPr lang="ru-RU" sz="2200" dirty="0"/>
              <a:t>(воздушно-капельный) — при вдыхании частиц слюны или пыли (например, туберкулез, дифтерия</a:t>
            </a:r>
            <a:r>
              <a:rPr lang="ru-RU" sz="2200" dirty="0" smtClean="0"/>
              <a:t>).</a:t>
            </a:r>
            <a:endParaRPr lang="en-US" sz="2200" dirty="0" smtClean="0"/>
          </a:p>
          <a:p>
            <a:pPr marL="0" indent="0">
              <a:buNone/>
            </a:pPr>
            <a:r>
              <a:rPr lang="ru-RU" sz="2200" dirty="0" smtClean="0"/>
              <a:t>Фекально-оральный </a:t>
            </a:r>
            <a:r>
              <a:rPr lang="ru-RU" sz="2200" dirty="0"/>
              <a:t>(алиментарный) — через употребление зараженной пищи или воды (холера, сальмонеллез</a:t>
            </a:r>
            <a:r>
              <a:rPr lang="ru-RU" sz="2200" dirty="0" smtClean="0"/>
              <a:t>).</a:t>
            </a:r>
            <a:endParaRPr lang="en-US" sz="2200" dirty="0" smtClean="0"/>
          </a:p>
          <a:p>
            <a:pPr marL="0" indent="0">
              <a:buNone/>
            </a:pPr>
            <a:r>
              <a:rPr lang="ru-RU" sz="2200" dirty="0" smtClean="0"/>
              <a:t>Контактный </a:t>
            </a:r>
            <a:r>
              <a:rPr lang="ru-RU" sz="2200" dirty="0"/>
              <a:t>— при соприкосновении с кожей или слизистыми больного, а также через предметы </a:t>
            </a:r>
            <a:r>
              <a:rPr lang="ru-RU" sz="2200" dirty="0" smtClean="0"/>
              <a:t>обихода; через кровь, при половых контактах. </a:t>
            </a:r>
            <a:endParaRPr lang="en-US" sz="2200" dirty="0" smtClean="0"/>
          </a:p>
          <a:p>
            <a:pPr marL="0" indent="0">
              <a:buNone/>
            </a:pPr>
            <a:r>
              <a:rPr lang="ru-RU" sz="2200" dirty="0" smtClean="0"/>
              <a:t>Трансмиссивный </a:t>
            </a:r>
            <a:r>
              <a:rPr lang="ru-RU" sz="2200" dirty="0"/>
              <a:t>— через укусы кровососущих насекомых (клещевой боррелиоз, </a:t>
            </a:r>
            <a:r>
              <a:rPr lang="ru-RU" sz="2200" dirty="0" smtClean="0"/>
              <a:t>чума, малярия).</a:t>
            </a:r>
            <a:endParaRPr lang="en-US" sz="2200" dirty="0" smtClean="0"/>
          </a:p>
        </p:txBody>
      </p:sp>
      <p:sp>
        <p:nvSpPr>
          <p:cNvPr id="2" name="Овал 1"/>
          <p:cNvSpPr/>
          <p:nvPr/>
        </p:nvSpPr>
        <p:spPr>
          <a:xfrm>
            <a:off x="8028384" y="573325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632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15200" y="764704"/>
            <a:ext cx="9144000" cy="5805264"/>
          </a:xfrm>
        </p:spPr>
        <p:txBody>
          <a:bodyPr/>
          <a:lstStyle/>
          <a:p>
            <a:pPr marL="0" indent="0">
              <a:buNone/>
            </a:pPr>
            <a:endParaRPr lang="az-Latn-AZ" dirty="0" smtClean="0"/>
          </a:p>
          <a:p>
            <a:pPr marL="0" indent="0">
              <a:buNone/>
            </a:pPr>
            <a:endParaRPr lang="az-Latn-AZ" sz="2200" dirty="0"/>
          </a:p>
          <a:p>
            <a:endParaRPr lang="az-Latn-AZ" dirty="0" smtClean="0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0" y="0"/>
            <a:ext cx="899592" cy="5486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i="1" dirty="0" smtClean="0">
                <a:solidFill>
                  <a:srgbClr val="C00000"/>
                </a:solidFill>
              </a:rPr>
              <a:t>3</a:t>
            </a:r>
            <a:endParaRPr lang="ru-RU" sz="4800" b="1" i="1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3360" y="476672"/>
            <a:ext cx="887728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Принципы назначения </a:t>
            </a:r>
            <a:r>
              <a:rPr lang="ru-RU" sz="2400" b="1" dirty="0" smtClean="0"/>
              <a:t>антибиотиков</a:t>
            </a:r>
          </a:p>
          <a:p>
            <a:pPr algn="ctr"/>
            <a:endParaRPr lang="ru-RU" b="1" dirty="0" smtClean="0"/>
          </a:p>
          <a:p>
            <a:r>
              <a:rPr lang="ru-RU" sz="2000" dirty="0" smtClean="0"/>
              <a:t>Для </a:t>
            </a:r>
            <a:r>
              <a:rPr lang="ru-RU" sz="2000" dirty="0"/>
              <a:t>подбора эффективной терапии необходимо проведение бактериологического исследования (посева биоматериала). Это позволяет точно идентифицировать возбудителя</a:t>
            </a:r>
            <a:r>
              <a:rPr lang="ru-RU" sz="2000" dirty="0" smtClean="0"/>
              <a:t>. Ключевым </a:t>
            </a:r>
            <a:r>
              <a:rPr lang="ru-RU" sz="2000" dirty="0"/>
              <a:t>этапом диагностики является определение антибиотикограммы — теста на чувствительность микроорганизма к различным группам препаратов</a:t>
            </a:r>
            <a:r>
              <a:rPr lang="ru-RU" sz="2000" dirty="0" smtClean="0"/>
              <a:t>. </a:t>
            </a:r>
          </a:p>
          <a:p>
            <a:r>
              <a:rPr lang="ru-RU" sz="2000" b="1" i="1" dirty="0" smtClean="0"/>
              <a:t>Резистентность </a:t>
            </a:r>
            <a:r>
              <a:rPr lang="ru-RU" sz="2000" b="1" i="1" dirty="0"/>
              <a:t>(чувствительность) </a:t>
            </a:r>
            <a:r>
              <a:rPr lang="ru-RU" sz="2000" b="1" i="1" dirty="0" smtClean="0"/>
              <a:t>бактерий</a:t>
            </a:r>
          </a:p>
          <a:p>
            <a:r>
              <a:rPr lang="ru-RU" sz="2000" dirty="0" smtClean="0"/>
              <a:t>Результаты </a:t>
            </a:r>
            <a:r>
              <a:rPr lang="ru-RU" sz="2000" dirty="0"/>
              <a:t>анализа определяют, как бактерия реагирует на препарат</a:t>
            </a:r>
            <a:r>
              <a:rPr lang="ru-RU" sz="2000" dirty="0" smtClean="0"/>
              <a:t>:</a:t>
            </a:r>
          </a:p>
          <a:p>
            <a:r>
              <a:rPr lang="ru-RU" sz="2000" i="1" dirty="0" smtClean="0"/>
              <a:t>Чувствительные </a:t>
            </a:r>
            <a:r>
              <a:rPr lang="ru-RU" sz="2000" i="1" dirty="0"/>
              <a:t>штаммы</a:t>
            </a:r>
            <a:r>
              <a:rPr lang="ru-RU" sz="2000" dirty="0"/>
              <a:t>: антибиотик эффективно подавляет рост или уничтожает бактерии</a:t>
            </a:r>
            <a:r>
              <a:rPr lang="ru-RU" sz="2000" dirty="0" smtClean="0"/>
              <a:t>.</a:t>
            </a:r>
          </a:p>
          <a:p>
            <a:r>
              <a:rPr lang="ru-RU" sz="2000" i="1" dirty="0" smtClean="0"/>
              <a:t>Устойчивые </a:t>
            </a:r>
            <a:r>
              <a:rPr lang="ru-RU" sz="2000" i="1" dirty="0"/>
              <a:t>(резистентные) штаммы</a:t>
            </a:r>
            <a:r>
              <a:rPr lang="ru-RU" sz="2000" dirty="0"/>
              <a:t>: бактерии сохраняют жизнеспособность даже при воздействии препарата</a:t>
            </a:r>
            <a:r>
              <a:rPr lang="ru-RU" sz="2000" dirty="0" smtClean="0"/>
              <a:t>.</a:t>
            </a:r>
          </a:p>
          <a:p>
            <a:r>
              <a:rPr lang="ru-RU" sz="2000" b="1" dirty="0" smtClean="0">
                <a:solidFill>
                  <a:srgbClr val="FF0000"/>
                </a:solidFill>
              </a:rPr>
              <a:t>Важно! </a:t>
            </a:r>
            <a:r>
              <a:rPr lang="ru-RU" sz="2000" i="1" dirty="0"/>
              <a:t>Бесконтрольный прием антибиотиков ведет к развитию глобальной проблемы — антибиотикорезистентности, когда привычные лекарства перестают действовать на мутировавшие бактерии. Принимать препараты следует строго по назначению врача и полным курсом.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78339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0"/>
            <a:ext cx="6927851" cy="68487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4568" y="404664"/>
            <a:ext cx="892899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Применение антибиотиков сопряжено с риском развития реакций гиперчувствительности, вплоть до анафилактического шока — жизнеугрожающего состояния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Особенности </a:t>
            </a:r>
            <a:r>
              <a:rPr lang="ru-RU" b="1" dirty="0"/>
              <a:t>проведения кожных проб</a:t>
            </a:r>
            <a:r>
              <a:rPr lang="ru-RU" b="1" dirty="0" smtClean="0"/>
              <a:t>: </a:t>
            </a:r>
            <a:r>
              <a:rPr lang="ru-RU" dirty="0" smtClean="0"/>
              <a:t>Ранее </a:t>
            </a:r>
            <a:r>
              <a:rPr lang="ru-RU" dirty="0"/>
              <a:t>для прогнозирования реакций широко применялись кожные </a:t>
            </a:r>
            <a:r>
              <a:rPr lang="ru-RU" dirty="0" smtClean="0"/>
              <a:t>пробы </a:t>
            </a:r>
            <a:r>
              <a:rPr lang="ru-RU" dirty="0"/>
              <a:t>(обычно на внутренней поверхности предплечья). Отек, гиперемия (покраснение) или зуд в месте введения считаются положительным результатом, что является абсолютным противопоказанием к применению данного препарата</a:t>
            </a:r>
            <a:r>
              <a:rPr lang="ru-RU" dirty="0" smtClean="0"/>
              <a:t>.</a:t>
            </a:r>
          </a:p>
          <a:p>
            <a:r>
              <a:rPr lang="ru-RU" i="1" dirty="0" smtClean="0"/>
              <a:t>Современный </a:t>
            </a:r>
            <a:r>
              <a:rPr lang="ru-RU" i="1" dirty="0"/>
              <a:t>подход</a:t>
            </a:r>
            <a:r>
              <a:rPr lang="ru-RU" dirty="0" smtClean="0"/>
              <a:t>: в современной </a:t>
            </a:r>
            <a:r>
              <a:rPr lang="ru-RU" dirty="0"/>
              <a:t>международной практике отношение к кожным пробам изменилось по следующим причинам</a:t>
            </a:r>
            <a:r>
              <a:rPr lang="ru-RU" dirty="0" smtClean="0"/>
              <a:t>: Низкая </a:t>
            </a:r>
            <a:r>
              <a:rPr lang="ru-RU" dirty="0"/>
              <a:t>прогностическая </a:t>
            </a:r>
            <a:r>
              <a:rPr lang="ru-RU" dirty="0" smtClean="0"/>
              <a:t>ценность - </a:t>
            </a:r>
            <a:r>
              <a:rPr lang="ru-RU" dirty="0"/>
              <a:t>зафиксированы случаи анафилаксии при отрицательных результатах пробы</a:t>
            </a:r>
            <a:r>
              <a:rPr lang="ru-RU" dirty="0" smtClean="0"/>
              <a:t>. </a:t>
            </a:r>
            <a:r>
              <a:rPr lang="ru-RU" b="1" dirty="0" smtClean="0">
                <a:solidFill>
                  <a:srgbClr val="FF0000"/>
                </a:solidFill>
              </a:rPr>
              <a:t>Рекомендация</a:t>
            </a:r>
            <a:r>
              <a:rPr lang="ru-RU" dirty="0"/>
              <a:t>: Введение антибиотиков (особенно первое) предпочтительно проводить в условиях медицинского учреждения, оснащенного укладкой для оказания экстренной помощи при анафилактическом шоке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b="1" dirty="0" smtClean="0"/>
              <a:t>Правила </a:t>
            </a:r>
            <a:r>
              <a:rPr lang="ru-RU" b="1" dirty="0"/>
              <a:t>разведения антибиотиков </a:t>
            </a:r>
          </a:p>
          <a:p>
            <a:r>
              <a:rPr lang="ru-RU" dirty="0" smtClean="0"/>
              <a:t>Антибиотики </a:t>
            </a:r>
            <a:r>
              <a:rPr lang="ru-RU" dirty="0"/>
              <a:t>во флаконах (</a:t>
            </a:r>
            <a:r>
              <a:rPr lang="ru-RU" dirty="0" smtClean="0"/>
              <a:t>порошок) </a:t>
            </a:r>
            <a:r>
              <a:rPr lang="ru-RU" dirty="0"/>
              <a:t>требуют строгого соблюдения правил асептики и выбора соответствующего растворителя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dirty="0" smtClean="0"/>
              <a:t>Для </a:t>
            </a:r>
            <a:r>
              <a:rPr lang="ru-RU" dirty="0"/>
              <a:t>внутривенного (в/в) введения</a:t>
            </a:r>
            <a:r>
              <a:rPr lang="ru-RU" dirty="0" smtClean="0"/>
              <a:t>: </a:t>
            </a:r>
            <a:r>
              <a:rPr lang="ru-RU" dirty="0"/>
              <a:t>используется дистиллированная </a:t>
            </a:r>
            <a:r>
              <a:rPr lang="ru-RU" dirty="0" smtClean="0"/>
              <a:t>вода для </a:t>
            </a:r>
            <a:r>
              <a:rPr lang="ru-RU" dirty="0"/>
              <a:t>инъекций или 0,9% раствор натрия хлорида (физиологический раствор</a:t>
            </a:r>
            <a:r>
              <a:rPr lang="ru-RU" dirty="0" smtClean="0"/>
              <a:t>). </a:t>
            </a:r>
          </a:p>
          <a:p>
            <a:r>
              <a:rPr lang="ru-RU" b="1" dirty="0" smtClean="0">
                <a:solidFill>
                  <a:srgbClr val="FF0000"/>
                </a:solidFill>
              </a:rPr>
              <a:t>Важно!</a:t>
            </a:r>
            <a:r>
              <a:rPr lang="ru-RU" dirty="0" smtClean="0"/>
              <a:t> использование </a:t>
            </a:r>
            <a:r>
              <a:rPr lang="ru-RU" dirty="0"/>
              <a:t>местных анестетиков (лидокаин, новокаин) для внутривенного введения категорически запрещено.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440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1457" y="55589"/>
            <a:ext cx="6881086" cy="68024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9512" y="188640"/>
            <a:ext cx="87849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2. Для внутримышечного (в/м) </a:t>
            </a:r>
            <a:r>
              <a:rPr lang="ru-RU" dirty="0" smtClean="0"/>
              <a:t>введения: с целью </a:t>
            </a:r>
            <a:r>
              <a:rPr lang="ru-RU" dirty="0"/>
              <a:t>уменьшения болезненности инъекции применяются</a:t>
            </a:r>
            <a:r>
              <a:rPr lang="ru-RU" dirty="0" smtClean="0"/>
              <a:t>: 0,5</a:t>
            </a:r>
            <a:r>
              <a:rPr lang="ru-RU" dirty="0"/>
              <a:t>% раствор прокаина (новокаина);1% раствор </a:t>
            </a:r>
            <a:r>
              <a:rPr lang="ru-RU" dirty="0" smtClean="0"/>
              <a:t>лидокаина; вода </a:t>
            </a:r>
            <a:r>
              <a:rPr lang="ru-RU" dirty="0"/>
              <a:t>для инъекций или 0,9% раствор натрия хлорида (если анестетики противопоказаны</a:t>
            </a:r>
            <a:r>
              <a:rPr lang="ru-RU" dirty="0" smtClean="0"/>
              <a:t>).</a:t>
            </a:r>
          </a:p>
          <a:p>
            <a:r>
              <a:rPr lang="ru-RU" dirty="0" smtClean="0"/>
              <a:t>3</a:t>
            </a:r>
            <a:r>
              <a:rPr lang="ru-RU" dirty="0"/>
              <a:t>. Для перорального </a:t>
            </a:r>
            <a:r>
              <a:rPr lang="ru-RU" dirty="0" smtClean="0"/>
              <a:t>приема: порошки </a:t>
            </a:r>
            <a:r>
              <a:rPr lang="ru-RU" dirty="0"/>
              <a:t>для приготовления суспензий разводятся охлажденной кипяченой водой строго до метки на флаконе.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79512" y="2276872"/>
            <a:ext cx="86409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u="sng" dirty="0"/>
              <a:t>Приготовление раствора </a:t>
            </a:r>
            <a:r>
              <a:rPr lang="ru-RU" i="1" u="sng" dirty="0" smtClean="0"/>
              <a:t>1 % лидокаина </a:t>
            </a:r>
          </a:p>
          <a:p>
            <a:r>
              <a:rPr lang="ru-RU" dirty="0"/>
              <a:t>1% </a:t>
            </a:r>
            <a:r>
              <a:rPr lang="ru-RU" dirty="0" smtClean="0"/>
              <a:t>Лидокаин </a:t>
            </a:r>
            <a:r>
              <a:rPr lang="ru-RU" dirty="0"/>
              <a:t>иногда выпускается в готовом виде</a:t>
            </a:r>
            <a:r>
              <a:rPr lang="ru-RU" dirty="0" smtClean="0"/>
              <a:t>. Если </a:t>
            </a:r>
            <a:r>
              <a:rPr lang="ru-RU" dirty="0"/>
              <a:t>он отсутствует, можно приготовить из </a:t>
            </a:r>
            <a:r>
              <a:rPr lang="ru-RU" dirty="0" smtClean="0"/>
              <a:t>2 % </a:t>
            </a:r>
            <a:r>
              <a:rPr lang="ru-RU" dirty="0"/>
              <a:t>раствора</a:t>
            </a:r>
            <a:r>
              <a:rPr lang="ru-RU" dirty="0" smtClean="0"/>
              <a:t>:</a:t>
            </a:r>
          </a:p>
          <a:p>
            <a:r>
              <a:rPr lang="ru-RU" dirty="0" smtClean="0"/>
              <a:t>📌 </a:t>
            </a:r>
            <a:r>
              <a:rPr lang="ru-RU" dirty="0"/>
              <a:t>Пример</a:t>
            </a:r>
            <a:r>
              <a:rPr lang="ru-RU" dirty="0" smtClean="0"/>
              <a:t>: Чтобы </a:t>
            </a:r>
            <a:r>
              <a:rPr lang="ru-RU" dirty="0"/>
              <a:t>получить </a:t>
            </a:r>
            <a:r>
              <a:rPr lang="ru-RU" dirty="0" smtClean="0"/>
              <a:t>1% </a:t>
            </a:r>
            <a:r>
              <a:rPr lang="ru-RU" dirty="0"/>
              <a:t>раствора </a:t>
            </a:r>
            <a:r>
              <a:rPr lang="ru-RU" dirty="0" smtClean="0"/>
              <a:t>лидокаин:</a:t>
            </a:r>
            <a:r>
              <a:rPr lang="ru-RU" dirty="0"/>
              <a:t>	</a:t>
            </a:r>
            <a:endParaRPr lang="ru-RU" dirty="0" smtClean="0"/>
          </a:p>
          <a:p>
            <a:r>
              <a:rPr lang="ru-RU" dirty="0" smtClean="0"/>
              <a:t>• 2 </a:t>
            </a:r>
            <a:r>
              <a:rPr lang="ru-RU" dirty="0"/>
              <a:t>мл 2% лидокаина	</a:t>
            </a:r>
            <a:endParaRPr lang="ru-RU" dirty="0" smtClean="0"/>
          </a:p>
          <a:p>
            <a:r>
              <a:rPr lang="ru-RU" dirty="0" smtClean="0"/>
              <a:t>• 2 </a:t>
            </a:r>
            <a:r>
              <a:rPr lang="ru-RU" dirty="0"/>
              <a:t>мл дистиллированной воды➡️ В результате получают 4 мл </a:t>
            </a:r>
            <a:r>
              <a:rPr lang="ru-RU" dirty="0" smtClean="0"/>
              <a:t>1 % </a:t>
            </a:r>
            <a:r>
              <a:rPr lang="ru-RU" dirty="0"/>
              <a:t>лидокаина.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131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945796"/>
              </p:ext>
            </p:extLst>
          </p:nvPr>
        </p:nvGraphicFramePr>
        <p:xfrm>
          <a:off x="251520" y="2286000"/>
          <a:ext cx="8571075" cy="4572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8570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570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570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43450">
                <a:tc>
                  <a:txBody>
                    <a:bodyPr/>
                    <a:lstStyle/>
                    <a:p>
                      <a:pPr algn="ctr"/>
                      <a:endParaRPr lang="ru-RU" sz="20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965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Бензилпенициллин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965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Ампициллин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250:500 və 1000 mg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07642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Ампициллин</a:t>
                      </a:r>
                    </a:p>
                    <a:p>
                      <a:r>
                        <a:rPr lang="az-Latn-AZ" sz="2000" dirty="0" smtClean="0"/>
                        <a:t>+</a:t>
                      </a:r>
                      <a:r>
                        <a:rPr lang="ru-RU" sz="2000" baseline="0" dirty="0" smtClean="0"/>
                        <a:t> сульбактам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aseline="0" dirty="0" smtClean="0"/>
                        <a:t>750</a:t>
                      </a:r>
                      <a:r>
                        <a:rPr lang="az-Latn-AZ" sz="2000" baseline="0" dirty="0" smtClean="0"/>
                        <a:t> </a:t>
                      </a:r>
                      <a:r>
                        <a:rPr lang="az-Latn-AZ" sz="2000" baseline="0" dirty="0" smtClean="0"/>
                        <a:t>və </a:t>
                      </a:r>
                      <a:r>
                        <a:rPr lang="az-Latn-AZ" sz="2000" baseline="0" dirty="0" smtClean="0"/>
                        <a:t>15</a:t>
                      </a:r>
                      <a:r>
                        <a:rPr lang="ru-RU" sz="2000" baseline="0" dirty="0" smtClean="0"/>
                        <a:t>00</a:t>
                      </a:r>
                      <a:r>
                        <a:rPr lang="az-Latn-AZ" sz="2000" baseline="0" dirty="0" smtClean="0"/>
                        <a:t> </a:t>
                      </a:r>
                      <a:r>
                        <a:rPr lang="ru-RU" sz="2000" baseline="0" dirty="0" smtClean="0"/>
                        <a:t>мг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965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Амоксициллин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250:500 və 1000 mg 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07642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Амоксициллин + клавулановая кислота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625</a:t>
                      </a:r>
                      <a:r>
                        <a:rPr lang="az-Latn-AZ" sz="2000" baseline="0" dirty="0" smtClean="0"/>
                        <a:t> və 1000 mg 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Аугментин.</a:t>
                      </a:r>
                      <a:r>
                        <a:rPr lang="ru-RU" sz="2000" baseline="0" dirty="0" smtClean="0"/>
                        <a:t> Амоксиклав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965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Бициллин-1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965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Бициллин-3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7965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Бициллин-5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7965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Оксамп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103257" y="9699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400" dirty="0">
                <a:solidFill>
                  <a:srgbClr val="C00000"/>
                </a:solidFill>
              </a:rPr>
              <a:t>4</a:t>
            </a:r>
            <a:endParaRPr lang="ru-RU" sz="4400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01223" y="0"/>
            <a:ext cx="80427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Антибиотики делятся на несколько групп. Бета- лактамные антибиотики делятся на: </a:t>
            </a:r>
            <a:endParaRPr lang="ru-RU" sz="2200" dirty="0" smtClean="0"/>
          </a:p>
          <a:p>
            <a:r>
              <a:rPr lang="ru-RU" sz="2200" dirty="0" smtClean="0"/>
              <a:t>1.Пенициллины</a:t>
            </a:r>
          </a:p>
          <a:p>
            <a:r>
              <a:rPr lang="ru-RU" sz="2200" dirty="0" smtClean="0"/>
              <a:t>2</a:t>
            </a:r>
            <a:r>
              <a:rPr lang="ru-RU" sz="2200" dirty="0"/>
              <a:t>. ⁠</a:t>
            </a:r>
            <a:r>
              <a:rPr lang="ru-RU" sz="2200" dirty="0" smtClean="0"/>
              <a:t>Цефалоспорины</a:t>
            </a:r>
          </a:p>
          <a:p>
            <a:r>
              <a:rPr lang="ru-RU" sz="2200" dirty="0" smtClean="0"/>
              <a:t>3</a:t>
            </a:r>
            <a:r>
              <a:rPr lang="ru-RU" sz="2200" dirty="0"/>
              <a:t>. ⁠</a:t>
            </a:r>
            <a:r>
              <a:rPr lang="ru-RU" sz="2200" dirty="0" smtClean="0"/>
              <a:t>Карбапенемы</a:t>
            </a:r>
          </a:p>
          <a:p>
            <a:r>
              <a:rPr lang="ru-RU" sz="2200" dirty="0" smtClean="0"/>
              <a:t>4</a:t>
            </a:r>
            <a:r>
              <a:rPr lang="ru-RU" sz="2200" dirty="0"/>
              <a:t>. ⁠Монобактамы</a:t>
            </a:r>
            <a:endParaRPr lang="az-Latn-AZ" sz="22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3530008" y="1639669"/>
            <a:ext cx="352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i="1" dirty="0">
                <a:solidFill>
                  <a:srgbClr val="C00000"/>
                </a:solidFill>
              </a:rPr>
              <a:t>Пенициллины</a:t>
            </a:r>
            <a:endParaRPr lang="en-GB" sz="36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49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28230"/>
            <a:ext cx="694155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38636" y="476670"/>
            <a:ext cx="3466728" cy="432048"/>
          </a:xfrm>
        </p:spPr>
        <p:txBody>
          <a:bodyPr>
            <a:noAutofit/>
          </a:bodyPr>
          <a:lstStyle/>
          <a:p>
            <a:r>
              <a:rPr lang="az-Latn-AZ" sz="3600" i="1" dirty="0" smtClean="0"/>
              <a:t>    </a:t>
            </a:r>
            <a:r>
              <a:rPr lang="ru-RU" sz="3600" b="1" i="1" dirty="0">
                <a:solidFill>
                  <a:srgbClr val="FF0000"/>
                </a:solidFill>
              </a:rPr>
              <a:t>Цефалоспорины</a:t>
            </a:r>
            <a:r>
              <a:rPr lang="ru-RU" sz="3600" i="1" dirty="0"/>
              <a:t/>
            </a:r>
            <a:br>
              <a:rPr lang="ru-RU" sz="3600" i="1" dirty="0"/>
            </a:br>
            <a:endParaRPr lang="ru-RU" sz="3600" i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3844075"/>
              </p:ext>
            </p:extLst>
          </p:nvPr>
        </p:nvGraphicFramePr>
        <p:xfrm>
          <a:off x="1" y="1550662"/>
          <a:ext cx="9108503" cy="4509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5967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241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85595"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559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Цефазолин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500</a:t>
                      </a:r>
                      <a:r>
                        <a:rPr lang="ru-RU" sz="1600" baseline="0" dirty="0" smtClean="0"/>
                        <a:t> и 1000 мг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sefamezin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559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Цефалексин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559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Цефаклор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Kliasef və biclor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559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Цефпрозил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prefix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8559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Цефуроксим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250 </a:t>
                      </a:r>
                      <a:r>
                        <a:rPr lang="ru-RU" sz="1600" dirty="0" smtClean="0"/>
                        <a:t>и</a:t>
                      </a:r>
                      <a:r>
                        <a:rPr lang="az-Latn-AZ" sz="1600" dirty="0" smtClean="0"/>
                        <a:t> </a:t>
                      </a:r>
                      <a:r>
                        <a:rPr lang="az-Latn-AZ" sz="1600" dirty="0" smtClean="0"/>
                        <a:t>500 </a:t>
                      </a:r>
                      <a:r>
                        <a:rPr lang="ru-RU" sz="1600" dirty="0" smtClean="0"/>
                        <a:t>мг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Zinnat,meqasef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8559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Цефтриаксон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500</a:t>
                      </a:r>
                      <a:r>
                        <a:rPr lang="ru-RU" sz="1600" baseline="0" dirty="0" smtClean="0"/>
                        <a:t> и</a:t>
                      </a:r>
                      <a:r>
                        <a:rPr lang="az-Latn-AZ" sz="1600" dirty="0" smtClean="0"/>
                        <a:t> </a:t>
                      </a:r>
                      <a:r>
                        <a:rPr lang="az-Latn-AZ" sz="1600" dirty="0" smtClean="0"/>
                        <a:t>1000 </a:t>
                      </a:r>
                      <a:r>
                        <a:rPr lang="ru-RU" sz="1600" dirty="0" smtClean="0"/>
                        <a:t>мг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Tersef,triosef,</a:t>
                      </a:r>
                      <a:r>
                        <a:rPr lang="az-Latn-AZ" sz="2000" dirty="0" smtClean="0"/>
                        <a:t>rozada</a:t>
                      </a:r>
                      <a:r>
                        <a:rPr lang="az-Latn-AZ" sz="1600" dirty="0" smtClean="0"/>
                        <a:t>y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8559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Цефотаксим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500 </a:t>
                      </a:r>
                      <a:r>
                        <a:rPr lang="ru-RU" sz="1600" dirty="0" smtClean="0"/>
                        <a:t>и</a:t>
                      </a:r>
                      <a:r>
                        <a:rPr lang="az-Latn-AZ" sz="1600" baseline="0" dirty="0" smtClean="0"/>
                        <a:t> </a:t>
                      </a:r>
                      <a:r>
                        <a:rPr lang="az-Latn-AZ" sz="1600" baseline="0" dirty="0" smtClean="0"/>
                        <a:t>1000 </a:t>
                      </a:r>
                      <a:r>
                        <a:rPr lang="ru-RU" sz="1600" baseline="0" dirty="0" smtClean="0"/>
                        <a:t>мг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faktaksim,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8559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Цефиксим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Bimax,suprax 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52741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Цефтазидим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500 </a:t>
                      </a:r>
                      <a:r>
                        <a:rPr lang="ru-RU" sz="1600" dirty="0" smtClean="0"/>
                        <a:t>и</a:t>
                      </a:r>
                      <a:r>
                        <a:rPr lang="az-Latn-AZ" sz="1600" dirty="0" smtClean="0"/>
                        <a:t> </a:t>
                      </a:r>
                      <a:r>
                        <a:rPr lang="az-Latn-AZ" sz="1600" dirty="0" smtClean="0"/>
                        <a:t>1000</a:t>
                      </a:r>
                      <a:r>
                        <a:rPr lang="az-Latn-AZ" sz="1600" baseline="0" dirty="0" smtClean="0"/>
                        <a:t> </a:t>
                      </a:r>
                      <a:r>
                        <a:rPr lang="ru-RU" sz="1600" baseline="0" smtClean="0"/>
                        <a:t>мг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Lemaxol,faktazidim,</a:t>
                      </a:r>
                    </a:p>
                    <a:p>
                      <a:r>
                        <a:rPr lang="az-Latn-AZ" sz="1600" dirty="0" smtClean="0"/>
                        <a:t>Deltazim,fortum 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8559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Цефепим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1600" dirty="0" smtClean="0"/>
                        <a:t>Avipim 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206334" y="23549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000" smtClean="0"/>
              <a:t>5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13873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</TotalTime>
  <Words>628</Words>
  <Application>Microsoft Office PowerPoint</Application>
  <PresentationFormat>On-screen Show (4:3)</PresentationFormat>
  <Paragraphs>88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Цефалоспорины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İltİhab</dc:title>
  <dc:creator>Aysel</dc:creator>
  <cp:lastModifiedBy>Seymur</cp:lastModifiedBy>
  <cp:revision>55</cp:revision>
  <dcterms:created xsi:type="dcterms:W3CDTF">2019-10-26T05:34:43Z</dcterms:created>
  <dcterms:modified xsi:type="dcterms:W3CDTF">2026-04-03T12:08:21Z</dcterms:modified>
</cp:coreProperties>
</file>