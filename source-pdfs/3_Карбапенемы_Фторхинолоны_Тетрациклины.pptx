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2" r:id="rId3"/>
    <p:sldId id="258" r:id="rId4"/>
    <p:sldId id="260" r:id="rId5"/>
    <p:sldId id="261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44" autoAdjust="0"/>
    <p:restoredTop sz="94660"/>
  </p:normalViewPr>
  <p:slideViewPr>
    <p:cSldViewPr>
      <p:cViewPr varScale="1">
        <p:scale>
          <a:sx n="87" d="100"/>
          <a:sy n="87" d="100"/>
        </p:scale>
        <p:origin x="96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1FE3-D4DF-4BD5-9670-8142EAB550FC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1926-AC02-4CEE-9FDB-6FE05CE1F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775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1FE3-D4DF-4BD5-9670-8142EAB550FC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1926-AC02-4CEE-9FDB-6FE05CE1F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053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1FE3-D4DF-4BD5-9670-8142EAB550FC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1926-AC02-4CEE-9FDB-6FE05CE1F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190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1FE3-D4DF-4BD5-9670-8142EAB550FC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1926-AC02-4CEE-9FDB-6FE05CE1F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32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1FE3-D4DF-4BD5-9670-8142EAB550FC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1926-AC02-4CEE-9FDB-6FE05CE1F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7575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1FE3-D4DF-4BD5-9670-8142EAB550FC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1926-AC02-4CEE-9FDB-6FE05CE1F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72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1FE3-D4DF-4BD5-9670-8142EAB550FC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1926-AC02-4CEE-9FDB-6FE05CE1F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1849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1FE3-D4DF-4BD5-9670-8142EAB550FC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1926-AC02-4CEE-9FDB-6FE05CE1F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813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1FE3-D4DF-4BD5-9670-8142EAB550FC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1926-AC02-4CEE-9FDB-6FE05CE1F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813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1FE3-D4DF-4BD5-9670-8142EAB550FC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1926-AC02-4CEE-9FDB-6FE05CE1F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361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1FE3-D4DF-4BD5-9670-8142EAB550FC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1926-AC02-4CEE-9FDB-6FE05CE1F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7795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GB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GB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01FE3-D4DF-4BD5-9670-8142EAB550FC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F1926-AC02-4CEE-9FDB-6FE05CE1F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15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1520" y="2492896"/>
            <a:ext cx="8276456" cy="1683618"/>
          </a:xfrm>
        </p:spPr>
        <p:txBody>
          <a:bodyPr>
            <a:normAutofit/>
          </a:bodyPr>
          <a:lstStyle/>
          <a:p>
            <a:r>
              <a:rPr lang="ru-RU" b="1" i="1" dirty="0">
                <a:solidFill>
                  <a:srgbClr val="C00000"/>
                </a:solidFill>
              </a:rPr>
              <a:t>Карбапенемы. Фторхинолоны. Тетрациклины</a:t>
            </a:r>
          </a:p>
        </p:txBody>
      </p:sp>
      <p:sp>
        <p:nvSpPr>
          <p:cNvPr id="4" name="Овал 3"/>
          <p:cNvSpPr/>
          <p:nvPr/>
        </p:nvSpPr>
        <p:spPr>
          <a:xfrm>
            <a:off x="151358" y="116632"/>
            <a:ext cx="914400" cy="914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4800" b="1" i="1" dirty="0" smtClean="0">
                <a:solidFill>
                  <a:srgbClr val="C00000"/>
                </a:solidFill>
              </a:rPr>
              <a:t>1</a:t>
            </a:r>
            <a:endParaRPr lang="ru-RU" sz="48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576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616" y="53913"/>
            <a:ext cx="6882711" cy="68040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0487" y="2486460"/>
            <a:ext cx="871296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/>
              <a:t>Бактериостатическое действие </a:t>
            </a:r>
            <a:r>
              <a:rPr lang="ru-RU" sz="2400" dirty="0"/>
              <a:t>останавливает рост и размножение бактерий (например, тетрациклины, макролиды), не убивая их, в то время как </a:t>
            </a:r>
            <a:r>
              <a:rPr lang="ru-RU" sz="2400" b="1" i="1" dirty="0"/>
              <a:t>бактерицидное действие </a:t>
            </a:r>
            <a:r>
              <a:rPr lang="ru-RU" sz="2400" dirty="0"/>
              <a:t>уничтожает бактерии, вызывая их гибель (например, пенициллины, цефалоспорины, аминогликозиды).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1259632" y="1196752"/>
            <a:ext cx="63367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i="1" dirty="0" smtClean="0"/>
              <a:t>Действи</a:t>
            </a:r>
            <a:r>
              <a:rPr lang="ru-RU" sz="2800" b="1" i="1" dirty="0"/>
              <a:t>я</a:t>
            </a:r>
            <a:r>
              <a:rPr lang="ru-RU" sz="2800" b="1" i="1" dirty="0" smtClean="0"/>
              <a:t> </a:t>
            </a:r>
            <a:r>
              <a:rPr lang="ru-RU" sz="2800" b="1" i="1" dirty="0" smtClean="0"/>
              <a:t>антибиотиков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23723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2133034"/>
              </p:ext>
            </p:extLst>
          </p:nvPr>
        </p:nvGraphicFramePr>
        <p:xfrm>
          <a:off x="107503" y="3212976"/>
          <a:ext cx="8784977" cy="2558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049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9648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ru-RU" sz="2400" i="1" dirty="0" smtClean="0">
                          <a:solidFill>
                            <a:srgbClr val="C00000"/>
                          </a:solidFill>
                        </a:rPr>
                        <a:t>МНН</a:t>
                      </a:r>
                      <a:endParaRPr lang="ru-RU" sz="2400" i="1" dirty="0">
                        <a:solidFill>
                          <a:srgbClr val="C00000"/>
                        </a:solidFill>
                      </a:endParaRPr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i="1" dirty="0" smtClean="0">
                          <a:solidFill>
                            <a:srgbClr val="C00000"/>
                          </a:solidFill>
                        </a:rPr>
                        <a:t>Доза</a:t>
                      </a:r>
                      <a:r>
                        <a:rPr lang="az-Latn-AZ" sz="2400" i="1" dirty="0" smtClean="0"/>
                        <a:t> </a:t>
                      </a:r>
                      <a:endParaRPr lang="ru-RU" sz="2400" i="1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i="1" dirty="0" smtClean="0">
                          <a:solidFill>
                            <a:srgbClr val="C00000"/>
                          </a:solidFill>
                        </a:rPr>
                        <a:t>Торговое</a:t>
                      </a:r>
                      <a:r>
                        <a:rPr lang="ru-RU" sz="2400" i="1" baseline="0" dirty="0" smtClean="0">
                          <a:solidFill>
                            <a:srgbClr val="C00000"/>
                          </a:solidFill>
                        </a:rPr>
                        <a:t> название</a:t>
                      </a:r>
                      <a:endParaRPr lang="ru-RU" sz="2400" i="1" dirty="0">
                        <a:solidFill>
                          <a:srgbClr val="C00000"/>
                        </a:solidFill>
                      </a:endParaRPr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33134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эртапенем</a:t>
                      </a:r>
                      <a:endParaRPr lang="ru-RU" sz="24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400" dirty="0" smtClean="0"/>
                        <a:t>500 </a:t>
                      </a:r>
                      <a:r>
                        <a:rPr lang="ru-RU" sz="2400" dirty="0" smtClean="0"/>
                        <a:t>,</a:t>
                      </a:r>
                      <a:r>
                        <a:rPr lang="az-Latn-AZ" sz="2400" dirty="0" smtClean="0"/>
                        <a:t>1000 </a:t>
                      </a:r>
                      <a:r>
                        <a:rPr lang="ru-RU" sz="2400" dirty="0" smtClean="0"/>
                        <a:t>мг</a:t>
                      </a:r>
                      <a:r>
                        <a:rPr lang="az-Latn-AZ" sz="2400" dirty="0" smtClean="0"/>
                        <a:t> </a:t>
                      </a:r>
                      <a:endParaRPr lang="ru-RU" sz="24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Инванз</a:t>
                      </a:r>
                      <a:endParaRPr lang="ru-RU" sz="24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16109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имипенем</a:t>
                      </a:r>
                      <a:endParaRPr lang="ru-RU" sz="24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50</a:t>
                      </a:r>
                      <a:r>
                        <a:rPr lang="ru-RU" sz="2400" dirty="0" smtClean="0"/>
                        <a:t>0</a:t>
                      </a:r>
                      <a:r>
                        <a:rPr lang="ru-RU" sz="2400" baseline="0" dirty="0" smtClean="0"/>
                        <a:t> мг</a:t>
                      </a:r>
                      <a:endParaRPr lang="ru-RU" sz="24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Тиенам</a:t>
                      </a:r>
                      <a:endParaRPr lang="ru-RU" sz="24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33134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меропенем</a:t>
                      </a:r>
                      <a:endParaRPr lang="ru-RU" sz="24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400" dirty="0" smtClean="0"/>
                        <a:t>500</a:t>
                      </a:r>
                      <a:r>
                        <a:rPr lang="ru-RU" sz="2400" dirty="0" smtClean="0"/>
                        <a:t>,</a:t>
                      </a:r>
                      <a:r>
                        <a:rPr lang="ru-RU" sz="2400" baseline="0" dirty="0" smtClean="0"/>
                        <a:t> </a:t>
                      </a:r>
                      <a:r>
                        <a:rPr lang="az-Latn-AZ" sz="2400" dirty="0" smtClean="0"/>
                        <a:t>1000 </a:t>
                      </a:r>
                      <a:r>
                        <a:rPr lang="ru-RU" sz="2400" dirty="0" smtClean="0"/>
                        <a:t>мг</a:t>
                      </a:r>
                      <a:endParaRPr lang="ru-RU" sz="24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Меронем</a:t>
                      </a:r>
                      <a:endParaRPr lang="ru-RU" sz="24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3" name="Овал 2"/>
          <p:cNvSpPr/>
          <p:nvPr/>
        </p:nvSpPr>
        <p:spPr>
          <a:xfrm>
            <a:off x="93411" y="116632"/>
            <a:ext cx="914400" cy="914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i="1" dirty="0" smtClean="0">
                <a:solidFill>
                  <a:srgbClr val="C00000"/>
                </a:solidFill>
              </a:rPr>
              <a:t>2</a:t>
            </a:r>
            <a:endParaRPr lang="ru-RU" b="1" i="1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8796" y="1340768"/>
            <a:ext cx="777761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</a:rPr>
              <a:t>Карбапенемы</a:t>
            </a:r>
            <a:r>
              <a:rPr lang="ru-RU" sz="2800" dirty="0"/>
              <a:t> — β-лактамные антибиотики резерва с очень широким спектром</a:t>
            </a:r>
            <a:r>
              <a:rPr lang="ru-RU" sz="2800" dirty="0" smtClean="0"/>
              <a:t>.</a:t>
            </a:r>
            <a:endParaRPr lang="en-US" sz="2800" dirty="0" smtClean="0"/>
          </a:p>
          <a:p>
            <a:r>
              <a:rPr lang="ru-RU" sz="2800" i="1" dirty="0" smtClean="0"/>
              <a:t>Применение</a:t>
            </a:r>
            <a:r>
              <a:rPr lang="ru-RU" sz="2800" dirty="0"/>
              <a:t>: тяжёлые госпитальные инфекции, сепсис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862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7037722"/>
              </p:ext>
            </p:extLst>
          </p:nvPr>
        </p:nvGraphicFramePr>
        <p:xfrm>
          <a:off x="0" y="2598881"/>
          <a:ext cx="9144000" cy="3695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126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833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29208">
                <a:tc>
                  <a:txBody>
                    <a:bodyPr/>
                    <a:lstStyle/>
                    <a:p>
                      <a:pPr algn="ctr"/>
                      <a:r>
                        <a:rPr lang="ru-RU" sz="2400" b="1" i="1" dirty="0" smtClean="0">
                          <a:solidFill>
                            <a:srgbClr val="C00000"/>
                          </a:solidFill>
                        </a:rPr>
                        <a:t>МНН</a:t>
                      </a:r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i="1" dirty="0" smtClean="0">
                          <a:solidFill>
                            <a:srgbClr val="C00000"/>
                          </a:solidFill>
                        </a:rPr>
                        <a:t>Доза </a:t>
                      </a:r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i="1" dirty="0" smtClean="0">
                          <a:solidFill>
                            <a:srgbClr val="C00000"/>
                          </a:solidFill>
                        </a:rPr>
                        <a:t>Торговое название</a:t>
                      </a:r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8904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Налидиксовая кислота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500</a:t>
                      </a:r>
                      <a:r>
                        <a:rPr lang="ru-RU" sz="2000" baseline="0" dirty="0" smtClean="0"/>
                        <a:t> мг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Невиграмон</a:t>
                      </a:r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1674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Ципрофлоксацин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250</a:t>
                      </a:r>
                      <a:r>
                        <a:rPr lang="ru-RU" sz="2000" dirty="0" smtClean="0"/>
                        <a:t>,</a:t>
                      </a:r>
                      <a:r>
                        <a:rPr lang="az-Latn-AZ" sz="2000" baseline="0" dirty="0" smtClean="0"/>
                        <a:t> 500</a:t>
                      </a:r>
                      <a:r>
                        <a:rPr lang="ru-RU" sz="2000" baseline="0" dirty="0" smtClean="0"/>
                        <a:t>,</a:t>
                      </a:r>
                      <a:r>
                        <a:rPr lang="az-Latn-AZ" sz="2000" baseline="0" dirty="0" smtClean="0"/>
                        <a:t> 750 </a:t>
                      </a:r>
                      <a:r>
                        <a:rPr lang="ru-RU" sz="2000" baseline="0" dirty="0" smtClean="0"/>
                        <a:t>мг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Ципролет, Орцепол</a:t>
                      </a:r>
                      <a:r>
                        <a:rPr lang="ru-RU" sz="2000" baseline="0" dirty="0" smtClean="0"/>
                        <a:t> ВМ</a:t>
                      </a:r>
                      <a:endParaRPr lang="ru-RU" sz="2000" dirty="0" smtClean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4444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Офлоксацин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200</a:t>
                      </a:r>
                      <a:r>
                        <a:rPr lang="ru-RU" sz="2000" dirty="0" smtClean="0"/>
                        <a:t>,</a:t>
                      </a:r>
                      <a:r>
                        <a:rPr lang="az-Latn-AZ" sz="2000" dirty="0" smtClean="0"/>
                        <a:t> 400 </a:t>
                      </a:r>
                      <a:r>
                        <a:rPr lang="ru-RU" sz="2000" dirty="0" smtClean="0"/>
                        <a:t>мг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Офлокса, Офлоксим</a:t>
                      </a:r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Левофлоксацин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250</a:t>
                      </a:r>
                      <a:r>
                        <a:rPr lang="ru-RU" sz="2000" dirty="0" smtClean="0"/>
                        <a:t>,</a:t>
                      </a:r>
                      <a:r>
                        <a:rPr lang="ru-RU" sz="2000" baseline="0" dirty="0" smtClean="0"/>
                        <a:t> </a:t>
                      </a:r>
                      <a:r>
                        <a:rPr lang="az-Latn-AZ" sz="2000" dirty="0" smtClean="0"/>
                        <a:t>500</a:t>
                      </a:r>
                      <a:r>
                        <a:rPr lang="ru-RU" sz="2000" dirty="0" smtClean="0"/>
                        <a:t>,</a:t>
                      </a:r>
                      <a:r>
                        <a:rPr lang="az-Latn-AZ" sz="2000" dirty="0" smtClean="0"/>
                        <a:t> 750</a:t>
                      </a:r>
                      <a:r>
                        <a:rPr lang="ru-RU" sz="2000" baseline="0" dirty="0" smtClean="0"/>
                        <a:t> мг</a:t>
                      </a:r>
                      <a:r>
                        <a:rPr lang="az-Latn-AZ" sz="2000" baseline="0" dirty="0" smtClean="0"/>
                        <a:t> 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Леволет,</a:t>
                      </a:r>
                      <a:r>
                        <a:rPr lang="ru-RU" sz="1800" baseline="0" dirty="0" smtClean="0"/>
                        <a:t> Таваник,Флексид, Левомак</a:t>
                      </a:r>
                      <a:endParaRPr lang="ru-RU" sz="1800" dirty="0" smtClean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70358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Моксифлоксацин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400</a:t>
                      </a:r>
                      <a:r>
                        <a:rPr lang="ru-RU" sz="2000" baseline="0" dirty="0" smtClean="0"/>
                        <a:t> мг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+mn-lt"/>
                        </a:rPr>
                        <a:t>Мофлокс, Авелокс</a:t>
                      </a:r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31286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Гемифлоксацин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325</a:t>
                      </a:r>
                      <a:r>
                        <a:rPr lang="az-Latn-AZ" sz="2000" baseline="0" dirty="0" smtClean="0"/>
                        <a:t> </a:t>
                      </a:r>
                      <a:r>
                        <a:rPr lang="ru-RU" sz="2000" baseline="0" dirty="0" smtClean="0"/>
                        <a:t>мг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 </a:t>
                      </a:r>
                      <a:r>
                        <a:rPr lang="ru-RU" sz="2000" dirty="0" smtClean="0"/>
                        <a:t>Фактив</a:t>
                      </a:r>
                    </a:p>
                    <a:p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3" name="Овал 2"/>
          <p:cNvSpPr/>
          <p:nvPr/>
        </p:nvSpPr>
        <p:spPr>
          <a:xfrm>
            <a:off x="13760" y="27544"/>
            <a:ext cx="697328" cy="60107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i="1" dirty="0" smtClean="0">
                <a:solidFill>
                  <a:srgbClr val="C00000"/>
                </a:solidFill>
              </a:rPr>
              <a:t>3</a:t>
            </a:r>
            <a:endParaRPr lang="ru-RU" sz="4800" b="1" i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-13760" y="72008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 </a:t>
            </a:r>
            <a:endParaRPr lang="ru-RU" sz="2400" dirty="0"/>
          </a:p>
        </p:txBody>
      </p:sp>
      <p:sp>
        <p:nvSpPr>
          <p:cNvPr id="7" name="Rectangle 6"/>
          <p:cNvSpPr/>
          <p:nvPr/>
        </p:nvSpPr>
        <p:spPr>
          <a:xfrm>
            <a:off x="711088" y="260648"/>
            <a:ext cx="832540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Фторхинолоны</a:t>
            </a:r>
            <a:r>
              <a:rPr lang="ru-RU" sz="2000" dirty="0"/>
              <a:t> — сильные синтетические антибиотики широкого спектра</a:t>
            </a:r>
            <a:r>
              <a:rPr lang="ru-RU" sz="2000" dirty="0" smtClean="0"/>
              <a:t>.</a:t>
            </a:r>
            <a:r>
              <a:rPr lang="en-US" sz="2000" dirty="0" smtClean="0"/>
              <a:t> </a:t>
            </a:r>
            <a:r>
              <a:rPr lang="ru-RU" sz="2000" dirty="0" smtClean="0"/>
              <a:t>Они </a:t>
            </a:r>
            <a:r>
              <a:rPr lang="ru-RU" sz="2000" dirty="0"/>
              <a:t>убивают бактерии, нарушая синтез их ДНК</a:t>
            </a:r>
            <a:r>
              <a:rPr lang="ru-RU" sz="2000" dirty="0" smtClean="0"/>
              <a:t>.</a:t>
            </a:r>
          </a:p>
          <a:p>
            <a:r>
              <a:rPr lang="ru-RU" sz="2000" dirty="0" smtClean="0"/>
              <a:t>Когда назначают</a:t>
            </a:r>
          </a:p>
          <a:p>
            <a:r>
              <a:rPr lang="ru-RU" sz="2000" dirty="0" smtClean="0"/>
              <a:t>•</a:t>
            </a:r>
            <a:r>
              <a:rPr lang="ru-RU" sz="2000" dirty="0"/>
              <a:t>	Пневмония	</a:t>
            </a:r>
            <a:endParaRPr lang="ru-RU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Пиелонефрит	</a:t>
            </a:r>
            <a:endParaRPr lang="ru-RU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Тяжёлые кишечные инфекции	</a:t>
            </a:r>
            <a:endParaRPr lang="ru-RU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Инфекции кожи и мягких тканей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30495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086907"/>
              </p:ext>
            </p:extLst>
          </p:nvPr>
        </p:nvGraphicFramePr>
        <p:xfrm>
          <a:off x="359532" y="2559234"/>
          <a:ext cx="8424936" cy="3199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804836">
                <a:tc>
                  <a:txBody>
                    <a:bodyPr/>
                    <a:lstStyle/>
                    <a:p>
                      <a:pPr algn="ctr"/>
                      <a:r>
                        <a:rPr lang="ru-RU" sz="2400" i="1" dirty="0" smtClean="0">
                          <a:solidFill>
                            <a:srgbClr val="C00000"/>
                          </a:solidFill>
                        </a:rPr>
                        <a:t>МНН</a:t>
                      </a:r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i="1" dirty="0" smtClean="0">
                          <a:solidFill>
                            <a:srgbClr val="C00000"/>
                          </a:solidFill>
                        </a:rPr>
                        <a:t>Доза</a:t>
                      </a:r>
                      <a:endParaRPr lang="ru-RU" i="1" dirty="0">
                        <a:solidFill>
                          <a:srgbClr val="C00000"/>
                        </a:solidFill>
                      </a:endParaRPr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i="1" dirty="0" smtClean="0">
                          <a:solidFill>
                            <a:srgbClr val="C00000"/>
                          </a:solidFill>
                        </a:rPr>
                        <a:t>Торговое название</a:t>
                      </a:r>
                    </a:p>
                    <a:p>
                      <a:pPr algn="ctr"/>
                      <a:endParaRPr lang="ru-RU" sz="2400" i="1" dirty="0">
                        <a:solidFill>
                          <a:srgbClr val="C00000"/>
                        </a:solidFill>
                      </a:endParaRPr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04836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Тетрациклин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000" dirty="0" smtClean="0"/>
                        <a:t>1% </a:t>
                      </a:r>
                      <a:r>
                        <a:rPr lang="en-US" sz="2000" dirty="0" smtClean="0"/>
                        <a:t>;</a:t>
                      </a:r>
                      <a:r>
                        <a:rPr lang="az-Latn-AZ" sz="2000" dirty="0" smtClean="0"/>
                        <a:t> 3%</a:t>
                      </a:r>
                      <a:endParaRPr lang="ru-RU" sz="2000" dirty="0" smtClean="0"/>
                    </a:p>
                    <a:p>
                      <a:r>
                        <a:rPr lang="en-US" sz="2000" dirty="0" smtClean="0"/>
                        <a:t>500</a:t>
                      </a:r>
                      <a:r>
                        <a:rPr lang="ru-RU" sz="2000" baseline="0" dirty="0" smtClean="0"/>
                        <a:t> мг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66592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Доксициклин</a:t>
                      </a:r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100</a:t>
                      </a:r>
                      <a:r>
                        <a:rPr lang="ru-RU" sz="2000" baseline="0" dirty="0" smtClean="0"/>
                        <a:t> мг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Юнидокс Солютаб,</a:t>
                      </a:r>
                      <a:r>
                        <a:rPr lang="ru-RU" sz="2000" baseline="0" dirty="0" smtClean="0"/>
                        <a:t> </a:t>
                      </a:r>
                      <a:r>
                        <a:rPr lang="ru-RU" sz="2000" dirty="0" smtClean="0"/>
                        <a:t>Доксилан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4836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Тигециклин</a:t>
                      </a:r>
                    </a:p>
                    <a:p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50</a:t>
                      </a:r>
                      <a:r>
                        <a:rPr lang="ru-RU" sz="2000" baseline="0" dirty="0" smtClean="0"/>
                        <a:t> мг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Тигацил</a:t>
                      </a:r>
                      <a:endParaRPr lang="ru-RU" sz="2000" dirty="0"/>
                    </a:p>
                  </a:txBody>
                  <a:tcPr marL="81280" marR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3" name="Овал 2"/>
          <p:cNvSpPr/>
          <p:nvPr/>
        </p:nvSpPr>
        <p:spPr>
          <a:xfrm>
            <a:off x="160870" y="139415"/>
            <a:ext cx="666714" cy="6252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i="1" dirty="0">
                <a:solidFill>
                  <a:srgbClr val="C00000"/>
                </a:solidFill>
              </a:rPr>
              <a:t>4</a:t>
            </a:r>
            <a:endParaRPr lang="ru-RU" b="1" i="1" dirty="0">
              <a:solidFill>
                <a:srgbClr val="C00000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16703" y="627272"/>
            <a:ext cx="8407846" cy="1325563"/>
          </a:xfrm>
        </p:spPr>
        <p:txBody>
          <a:bodyPr>
            <a:noAutofit/>
          </a:bodyPr>
          <a:lstStyle/>
          <a:p>
            <a:r>
              <a:rPr lang="ru-RU" sz="2000" b="1" dirty="0">
                <a:solidFill>
                  <a:srgbClr val="C00000"/>
                </a:solidFill>
                <a:latin typeface="+mn-lt"/>
              </a:rPr>
              <a:t>Тетрациклины</a:t>
            </a:r>
            <a:r>
              <a:rPr lang="ru-RU" sz="2000" dirty="0">
                <a:latin typeface="+mn-lt"/>
              </a:rPr>
              <a:t> — антибиотики широкого спектра, бактериостатические</a:t>
            </a:r>
            <a:r>
              <a:rPr lang="ru-RU" sz="2000" dirty="0" smtClean="0">
                <a:latin typeface="+mn-lt"/>
              </a:rPr>
              <a:t>.</a:t>
            </a:r>
            <a:br>
              <a:rPr lang="ru-RU" sz="2000" dirty="0" smtClean="0">
                <a:latin typeface="+mn-lt"/>
              </a:rPr>
            </a:br>
            <a:r>
              <a:rPr lang="ru-RU" sz="2000" dirty="0" smtClean="0">
                <a:latin typeface="+mn-lt"/>
              </a:rPr>
              <a:t>  </a:t>
            </a:r>
            <a:r>
              <a:rPr lang="ru-RU" sz="2000" dirty="0">
                <a:latin typeface="+mn-lt"/>
              </a:rPr>
              <a:t/>
            </a:r>
            <a:br>
              <a:rPr lang="ru-RU" sz="2000" dirty="0">
                <a:latin typeface="+mn-lt"/>
              </a:rPr>
            </a:br>
            <a:r>
              <a:rPr lang="ru-RU" sz="2000" dirty="0" smtClean="0">
                <a:latin typeface="+mn-lt"/>
              </a:rPr>
              <a:t>Нельзя: беременным; детям </a:t>
            </a:r>
            <a:r>
              <a:rPr lang="ru-RU" sz="2000" dirty="0">
                <a:latin typeface="+mn-lt"/>
              </a:rPr>
              <a:t>до 8 </a:t>
            </a:r>
            <a:r>
              <a:rPr lang="ru-RU" sz="2000" dirty="0" smtClean="0">
                <a:latin typeface="+mn-lt"/>
              </a:rPr>
              <a:t>лет; </a:t>
            </a:r>
            <a:r>
              <a:rPr lang="ru-RU" sz="2000" dirty="0">
                <a:latin typeface="+mn-lt"/>
              </a:rPr>
              <a:t>п</a:t>
            </a:r>
            <a:r>
              <a:rPr lang="ru-RU" sz="2000" dirty="0" smtClean="0">
                <a:latin typeface="+mn-lt"/>
              </a:rPr>
              <a:t>ри </a:t>
            </a:r>
            <a:r>
              <a:rPr lang="ru-RU" sz="2000" dirty="0">
                <a:latin typeface="+mn-lt"/>
              </a:rPr>
              <a:t>тяжёлых заболеваниях печени.</a:t>
            </a:r>
            <a:br>
              <a:rPr lang="ru-RU" sz="2000" dirty="0">
                <a:latin typeface="+mn-lt"/>
              </a:rPr>
            </a:br>
            <a:r>
              <a:rPr lang="ru-RU" sz="2000" dirty="0" smtClean="0">
                <a:latin typeface="+mn-lt"/>
              </a:rPr>
              <a:t>( откладываются в зубах, костях</a:t>
            </a:r>
            <a:r>
              <a:rPr lang="ru-RU" sz="2000" dirty="0">
                <a:latin typeface="+mn-lt"/>
              </a:rPr>
              <a:t>	</a:t>
            </a:r>
            <a:r>
              <a:rPr lang="ru-RU" sz="2000" dirty="0" smtClean="0">
                <a:latin typeface="+mn-lt"/>
              </a:rPr>
              <a:t>, плаценте).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154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</TotalTime>
  <Words>191</Words>
  <Application>Microsoft Office PowerPoint</Application>
  <PresentationFormat>On-screen Show (4:3)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Карбапенемы. Фторхинолоны. Тетрациклины</vt:lpstr>
      <vt:lpstr>PowerPoint Presentation</vt:lpstr>
      <vt:lpstr>PowerPoint Presentation</vt:lpstr>
      <vt:lpstr>PowerPoint Presentation</vt:lpstr>
      <vt:lpstr>Тетрациклины — антибиотики широкого спектра, бактериостатические.    Нельзя: беременным; детям до 8 лет; при тяжёлых заболеваниях печени. ( откладываются в зубах, костях , плаценте).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Karbopenemlər və Fluorxinononlar</dc:title>
  <dc:creator>Aysel</dc:creator>
  <cp:lastModifiedBy>Seymur</cp:lastModifiedBy>
  <cp:revision>42</cp:revision>
  <dcterms:created xsi:type="dcterms:W3CDTF">2019-12-04T05:51:17Z</dcterms:created>
  <dcterms:modified xsi:type="dcterms:W3CDTF">2025-12-27T19:50:40Z</dcterms:modified>
</cp:coreProperties>
</file>