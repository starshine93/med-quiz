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60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62" autoAdjust="0"/>
    <p:restoredTop sz="94660"/>
  </p:normalViewPr>
  <p:slideViewPr>
    <p:cSldViewPr>
      <p:cViewPr varScale="1">
        <p:scale>
          <a:sx n="87" d="100"/>
          <a:sy n="87" d="100"/>
        </p:scale>
        <p:origin x="96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76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6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09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61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08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49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76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09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11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04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54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D2C35-6514-4627-8065-654682F6072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A56A7-11E3-40BB-8932-7417C0962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0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4898"/>
            <a:ext cx="6941556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79812" y="3032956"/>
            <a:ext cx="3708412" cy="972108"/>
          </a:xfrm>
        </p:spPr>
        <p:txBody>
          <a:bodyPr>
            <a:normAutofit fontScale="92500" lnSpcReduction="10000"/>
          </a:bodyPr>
          <a:lstStyle/>
          <a:p>
            <a:endParaRPr lang="az-Latn-AZ" sz="7800" b="1" i="1" dirty="0" smtClean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5400" dirty="0"/>
          </a:p>
        </p:txBody>
      </p:sp>
      <p:sp>
        <p:nvSpPr>
          <p:cNvPr id="4" name="Rectangle 3"/>
          <p:cNvSpPr/>
          <p:nvPr/>
        </p:nvSpPr>
        <p:spPr>
          <a:xfrm>
            <a:off x="2448776" y="2708920"/>
            <a:ext cx="52195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7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Воспаление</a:t>
            </a:r>
            <a:endParaRPr lang="en-US" sz="7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508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736" y="484632"/>
            <a:ext cx="9110528" cy="6373368"/>
          </a:xfrm>
        </p:spPr>
        <p:txBody>
          <a:bodyPr/>
          <a:lstStyle/>
          <a:p>
            <a:pPr marL="36576" indent="0">
              <a:buNone/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Воспаление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защитно-приспособительная реакция организма на повреждение тканей, вызванное внешними (микробы, травмы) или внутренними (токсины, некроз) факторами. Цель этого процесса — уничтожить повреждающий агент и восстановить целостность тканей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" indent="0">
              <a:buNone/>
            </a:pPr>
            <a:r>
              <a:rPr lang="ru-RU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Пять </a:t>
            </a:r>
            <a:r>
              <a:rPr lang="ru-RU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классических симптомов (признаков</a:t>
            </a:r>
            <a:r>
              <a:rPr lang="ru-RU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воспаления:</a:t>
            </a:r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Покраснение (rubor)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возникает из-за расширения сосудов и усиленного притока крови к месту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повреждения.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Припухлость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отек (tumor)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следствие выхода плазмы крови через стенки сосудов в окружающие ткани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Жар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(calor)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повышение местной температуры из-за прилива теплой артериальной крови и ускорения обмена веществ в очаге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(dolor)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результат давления отека на нервные окончания и воздействия химических веществ (медиаторов воспаления) на рецепторы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Нарушение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(functio laesa)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поврежденный орган или участок тела перестает нормально работать (например, из-за боли или отека сустава).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ятиугольник 4"/>
          <p:cNvSpPr/>
          <p:nvPr/>
        </p:nvSpPr>
        <p:spPr>
          <a:xfrm>
            <a:off x="0" y="0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i="1" dirty="0" smtClean="0">
                <a:solidFill>
                  <a:srgbClr val="C00000"/>
                </a:solidFill>
              </a:rPr>
              <a:t>2</a:t>
            </a:r>
            <a:endParaRPr lang="en-GB" sz="48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9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z-Latn-AZ" dirty="0"/>
              <a:t> </a:t>
            </a:r>
            <a:r>
              <a:rPr lang="ru-RU" b="1" dirty="0" smtClean="0">
                <a:solidFill>
                  <a:srgbClr val="C00000"/>
                </a:solidFill>
              </a:rPr>
              <a:t>Течение воспаления: 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ru-RU" b="1" dirty="0" smtClean="0"/>
              <a:t>Острое</a:t>
            </a:r>
            <a:r>
              <a:rPr lang="ru-RU" dirty="0"/>
              <a:t>: развивается быстро (за несколько часов или дней) и обычно заканчивается выздоровлением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Хроническое</a:t>
            </a:r>
            <a:r>
              <a:rPr lang="ru-RU" dirty="0"/>
              <a:t>: длится месяцами или годами, часто протекает скрыто и может привести к серьезным повреждениям органов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/>
              <a:t>Хроническое воспаление имеет периоды обострения (рецидива) и ремиссии.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sz="2000" b="1" dirty="0">
                <a:solidFill>
                  <a:srgbClr val="C00000"/>
                </a:solidFill>
              </a:rPr>
              <a:t>Стадии воспаления </a:t>
            </a:r>
            <a:r>
              <a:rPr lang="ru-RU" sz="2000" b="1" dirty="0" smtClean="0">
                <a:solidFill>
                  <a:srgbClr val="C00000"/>
                </a:solidFill>
              </a:rPr>
              <a:t>: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ru-RU" b="1" dirty="0" smtClean="0"/>
              <a:t>Альтерация </a:t>
            </a:r>
            <a:r>
              <a:rPr lang="ru-RU" b="1" dirty="0"/>
              <a:t>(Повреждение): </a:t>
            </a:r>
            <a:r>
              <a:rPr lang="ru-RU" dirty="0"/>
              <a:t>Клетки разрушаются, выбрасывая в кровь «сигналы бедствия» (медиаторы</a:t>
            </a:r>
            <a:r>
              <a:rPr lang="ru-RU" dirty="0" smtClean="0"/>
              <a:t>).</a:t>
            </a:r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Экссудация </a:t>
            </a:r>
            <a:r>
              <a:rPr lang="ru-RU" b="1" dirty="0"/>
              <a:t>(Отек): </a:t>
            </a:r>
            <a:r>
              <a:rPr lang="ru-RU" dirty="0"/>
              <a:t>Сосуды расширяются и пропускают жидкость с лейкоцитами в ткани. Появляются отек, боль, жар и покраснение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Пролиферация </a:t>
            </a:r>
            <a:r>
              <a:rPr lang="ru-RU" b="1" dirty="0"/>
              <a:t>(Заживление): </a:t>
            </a:r>
            <a:r>
              <a:rPr lang="ru-RU" dirty="0"/>
              <a:t>Клетки делятся, восстанавливая ткань или образуя рубец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Суть </a:t>
            </a:r>
            <a:r>
              <a:rPr lang="ru-RU" dirty="0"/>
              <a:t>процесса: Повредили → Очистили </a:t>
            </a:r>
            <a:r>
              <a:rPr lang="ru-RU" dirty="0" smtClean="0"/>
              <a:t>→ Вылечили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5" name="Пятиугольник 4"/>
          <p:cNvSpPr/>
          <p:nvPr/>
        </p:nvSpPr>
        <p:spPr>
          <a:xfrm>
            <a:off x="0" y="0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i="1" dirty="0" smtClean="0">
                <a:solidFill>
                  <a:srgbClr val="C00000"/>
                </a:solidFill>
              </a:rPr>
              <a:t>3</a:t>
            </a:r>
            <a:endParaRPr lang="en-GB" sz="48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92" y="480576"/>
            <a:ext cx="9144000" cy="6408712"/>
          </a:xfrm>
        </p:spPr>
        <p:txBody>
          <a:bodyPr>
            <a:normAutofit/>
          </a:bodyPr>
          <a:lstStyle/>
          <a:p>
            <a:pPr marL="493776" indent="-457200">
              <a:buAutoNum type="arabicPeriod"/>
            </a:pPr>
            <a:r>
              <a:rPr lang="ru-RU" sz="2200" b="1" dirty="0" smtClean="0"/>
              <a:t>Лабораторная </a:t>
            </a:r>
            <a:r>
              <a:rPr lang="ru-RU" sz="2200" b="1" dirty="0"/>
              <a:t>диагностика</a:t>
            </a:r>
            <a:r>
              <a:rPr lang="ru-RU" sz="2200" dirty="0"/>
              <a:t>: лейкоцитоз, увеличение СОЭ (скорость оседания эритроцитов), увеличение С-реактивного белка ( СРБ) </a:t>
            </a:r>
            <a:endParaRPr lang="en-US" sz="2200" dirty="0" smtClean="0"/>
          </a:p>
          <a:p>
            <a:pPr marL="493776" indent="-457200">
              <a:buAutoNum type="arabicPeriod"/>
            </a:pPr>
            <a:r>
              <a:rPr lang="ru-RU" sz="2200" b="1" dirty="0" smtClean="0"/>
              <a:t>Инструментальная диагностика</a:t>
            </a:r>
            <a:r>
              <a:rPr lang="ru-RU" sz="2200" b="1" dirty="0"/>
              <a:t>: </a:t>
            </a:r>
            <a:r>
              <a:rPr lang="ru-RU" sz="2200" dirty="0"/>
              <a:t>УЗИ, рентгенография, КТ, </a:t>
            </a:r>
            <a:r>
              <a:rPr lang="ru-RU" sz="2200" dirty="0" smtClean="0"/>
              <a:t>МРТ</a:t>
            </a:r>
            <a:r>
              <a:rPr lang="en-US" sz="2200" dirty="0" smtClean="0"/>
              <a:t>.</a:t>
            </a:r>
          </a:p>
          <a:p>
            <a:pPr marL="493776" indent="-457200">
              <a:buAutoNum type="arabicPeriod"/>
            </a:pPr>
            <a:endParaRPr lang="en-US" sz="2200" dirty="0"/>
          </a:p>
          <a:p>
            <a:pPr marL="36576" indent="0">
              <a:buNone/>
            </a:pPr>
            <a:r>
              <a:rPr lang="ru-RU" sz="2200" dirty="0"/>
              <a:t>Названия заболеваний формируются в зависимости от локализации воспалительного процесса: к латинскому или греческому названию пораженного органа добавляется суффикс «-ит» (например: гастрит, артрит, гепатит</a:t>
            </a:r>
            <a:r>
              <a:rPr lang="ru-RU" sz="2200" dirty="0" smtClean="0"/>
              <a:t>).</a:t>
            </a:r>
            <a:endParaRPr lang="en-US" sz="2200" dirty="0" smtClean="0"/>
          </a:p>
          <a:p>
            <a:pPr marL="36576" indent="0">
              <a:buNone/>
            </a:pPr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i="1" dirty="0"/>
              <a:t>Гастрит</a:t>
            </a:r>
            <a:r>
              <a:rPr lang="ru-RU" sz="2200" dirty="0"/>
              <a:t> — воспаление желудка	</a:t>
            </a:r>
            <a:endParaRPr lang="en-US" sz="2200" dirty="0" smtClean="0"/>
          </a:p>
          <a:p>
            <a:pPr marL="36576" indent="0">
              <a:buNone/>
            </a:pPr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i="1" dirty="0"/>
              <a:t>Энтерит</a:t>
            </a:r>
            <a:r>
              <a:rPr lang="ru-RU" sz="2200" dirty="0"/>
              <a:t> — воспаление тонкого кишечника	</a:t>
            </a:r>
            <a:endParaRPr lang="en-US" sz="2200" dirty="0" smtClean="0"/>
          </a:p>
          <a:p>
            <a:pPr marL="36576" indent="0">
              <a:buNone/>
            </a:pPr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i="1" dirty="0"/>
              <a:t>Конъюнктивит</a:t>
            </a:r>
            <a:r>
              <a:rPr lang="ru-RU" sz="2200" dirty="0"/>
              <a:t> — воспаление глаз	</a:t>
            </a:r>
            <a:endParaRPr lang="en-US" sz="2200" dirty="0" smtClean="0"/>
          </a:p>
          <a:p>
            <a:pPr marL="36576" indent="0">
              <a:buNone/>
            </a:pPr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i="1" dirty="0"/>
              <a:t>Дерматит</a:t>
            </a:r>
            <a:r>
              <a:rPr lang="ru-RU" sz="2200" dirty="0"/>
              <a:t> — воспаление кожи	</a:t>
            </a:r>
            <a:endParaRPr lang="en-US" sz="2200" dirty="0" smtClean="0"/>
          </a:p>
          <a:p>
            <a:pPr marL="36576" indent="0">
              <a:buNone/>
            </a:pPr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i="1" dirty="0"/>
              <a:t>Отит</a:t>
            </a:r>
            <a:r>
              <a:rPr lang="ru-RU" sz="2200" dirty="0"/>
              <a:t> — воспаление уха	</a:t>
            </a:r>
            <a:endParaRPr lang="en-US" sz="2200" dirty="0" smtClean="0"/>
          </a:p>
          <a:p>
            <a:pPr marL="36576" indent="0">
              <a:buNone/>
            </a:pPr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i="1" dirty="0"/>
              <a:t>Нефрит</a:t>
            </a:r>
            <a:r>
              <a:rPr lang="ru-RU" sz="2200" dirty="0"/>
              <a:t> — воспаление почки	</a:t>
            </a:r>
            <a:endParaRPr lang="en-US" sz="2200" dirty="0" smtClean="0"/>
          </a:p>
          <a:p>
            <a:pPr marL="36576" indent="0">
              <a:buNone/>
            </a:pPr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i="1" dirty="0"/>
              <a:t>Цистит</a:t>
            </a:r>
            <a:r>
              <a:rPr lang="ru-RU" sz="2200" dirty="0"/>
              <a:t> — воспаление мочевого пузыря </a:t>
            </a:r>
            <a:r>
              <a:rPr lang="ru-RU" sz="2200" i="1" dirty="0"/>
              <a:t>и  т. д.</a:t>
            </a:r>
          </a:p>
        </p:txBody>
      </p:sp>
      <p:sp>
        <p:nvSpPr>
          <p:cNvPr id="5" name="Пятиугольник 4"/>
          <p:cNvSpPr/>
          <p:nvPr/>
        </p:nvSpPr>
        <p:spPr>
          <a:xfrm>
            <a:off x="-10232" y="-4056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i="1" dirty="0" smtClean="0">
                <a:solidFill>
                  <a:srgbClr val="C00000"/>
                </a:solidFill>
              </a:rPr>
              <a:t>4</a:t>
            </a:r>
            <a:endParaRPr lang="en-GB" sz="48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0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77" y="484632"/>
            <a:ext cx="9144000" cy="62373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Для </a:t>
            </a:r>
            <a:r>
              <a:rPr lang="ru-RU" sz="2000" dirty="0"/>
              <a:t>борьбы с воспалительными процессами применяются следующие группы </a:t>
            </a:r>
            <a:r>
              <a:rPr lang="ru-RU" sz="2000" dirty="0" smtClean="0"/>
              <a:t>препаратов:</a:t>
            </a:r>
            <a:endParaRPr lang="en-US" sz="2000" dirty="0" smtClean="0"/>
          </a:p>
          <a:p>
            <a:pPr marL="457200" indent="-457200">
              <a:buAutoNum type="arabicPeriod"/>
            </a:pPr>
            <a:r>
              <a:rPr lang="ru-RU" sz="2000" i="1" dirty="0" smtClean="0"/>
              <a:t>Нестероидные </a:t>
            </a:r>
            <a:r>
              <a:rPr lang="ru-RU" sz="2000" i="1" dirty="0"/>
              <a:t>противовоспалительные препараты (</a:t>
            </a:r>
            <a:r>
              <a:rPr lang="ru-RU" sz="2000" i="1" dirty="0" smtClean="0"/>
              <a:t>НПВ</a:t>
            </a:r>
            <a:r>
              <a:rPr lang="az-Latn-AZ" sz="2000" i="1" dirty="0" smtClean="0"/>
              <a:t>C</a:t>
            </a:r>
            <a:r>
              <a:rPr lang="ru-RU" sz="2000" i="1" dirty="0" smtClean="0"/>
              <a:t>) </a:t>
            </a:r>
            <a:r>
              <a:rPr lang="ru-RU" sz="2000" dirty="0"/>
              <a:t>— уменьшают воспаление, не являясь </a:t>
            </a:r>
            <a:r>
              <a:rPr lang="ru-RU" sz="2000" dirty="0" smtClean="0"/>
              <a:t>гормонами.</a:t>
            </a:r>
            <a:endParaRPr lang="az-Latn-AZ" sz="2000" dirty="0"/>
          </a:p>
          <a:p>
            <a:pPr marL="457200" indent="-457200">
              <a:buAutoNum type="arabicPeriod"/>
            </a:pPr>
            <a:r>
              <a:rPr lang="ru-RU" sz="2000" i="1" dirty="0" smtClean="0"/>
              <a:t>Стероидные </a:t>
            </a:r>
            <a:r>
              <a:rPr lang="ru-RU" sz="2000" i="1" dirty="0"/>
              <a:t>противовоспалительные препараты (глюкокортикоиды) </a:t>
            </a:r>
            <a:r>
              <a:rPr lang="ru-RU" sz="2000" dirty="0"/>
              <a:t>— гормональные средства с мощным противовоспалительным </a:t>
            </a:r>
            <a:r>
              <a:rPr lang="ru-RU" sz="2000" dirty="0" smtClean="0"/>
              <a:t>эффектом.</a:t>
            </a:r>
            <a:endParaRPr lang="az-Latn-AZ" sz="2000" dirty="0"/>
          </a:p>
          <a:p>
            <a:pPr marL="457200" indent="-457200">
              <a:buAutoNum type="arabicPeriod"/>
            </a:pPr>
            <a:r>
              <a:rPr lang="ru-RU" sz="2000" i="1" dirty="0" smtClean="0"/>
              <a:t>Этиотропная</a:t>
            </a:r>
            <a:r>
              <a:rPr lang="ru-RU" sz="2000" dirty="0" smtClean="0"/>
              <a:t> </a:t>
            </a:r>
            <a:r>
              <a:rPr lang="ru-RU" sz="2000" dirty="0"/>
              <a:t>терапия — лечение, направленное непосредственно на возбудителя инфекции</a:t>
            </a:r>
            <a:r>
              <a:rPr lang="ru-RU" sz="2000" dirty="0" smtClean="0"/>
              <a:t>:</a:t>
            </a:r>
            <a:r>
              <a:rPr lang="az-Latn-AZ" sz="2000" dirty="0" smtClean="0"/>
              <a:t> </a:t>
            </a:r>
            <a:r>
              <a:rPr lang="ru-RU" sz="2000" dirty="0" smtClean="0"/>
              <a:t>Антибиотики </a:t>
            </a:r>
            <a:r>
              <a:rPr lang="ru-RU" sz="2000" dirty="0"/>
              <a:t>(против бактерий</a:t>
            </a:r>
            <a:r>
              <a:rPr lang="ru-RU" sz="2000" dirty="0" smtClean="0"/>
              <a:t>);</a:t>
            </a:r>
            <a:r>
              <a:rPr lang="az-Latn-AZ" sz="2000" dirty="0" smtClean="0"/>
              <a:t> </a:t>
            </a:r>
            <a:r>
              <a:rPr lang="ru-RU" sz="2000" dirty="0" smtClean="0"/>
              <a:t>Антимикотики </a:t>
            </a:r>
            <a:r>
              <a:rPr lang="ru-RU" sz="2000" dirty="0"/>
              <a:t>(противогрибковые</a:t>
            </a:r>
            <a:r>
              <a:rPr lang="ru-RU" sz="2000" dirty="0" smtClean="0"/>
              <a:t>);</a:t>
            </a:r>
            <a:r>
              <a:rPr lang="az-Latn-AZ" sz="2000" dirty="0" smtClean="0"/>
              <a:t> </a:t>
            </a:r>
            <a:r>
              <a:rPr lang="ru-RU" sz="2000" dirty="0" smtClean="0"/>
              <a:t>Антигельминтные </a:t>
            </a:r>
            <a:r>
              <a:rPr lang="ru-RU" sz="2000" dirty="0"/>
              <a:t>(против паразитов</a:t>
            </a:r>
            <a:r>
              <a:rPr lang="ru-RU" sz="2000" dirty="0" smtClean="0"/>
              <a:t>);</a:t>
            </a:r>
            <a:r>
              <a:rPr lang="az-Latn-AZ" sz="2000" dirty="0" smtClean="0"/>
              <a:t> </a:t>
            </a:r>
            <a:r>
              <a:rPr lang="ru-RU" sz="2000" dirty="0" smtClean="0"/>
              <a:t>Антивирусные </a:t>
            </a:r>
            <a:r>
              <a:rPr lang="ru-RU" sz="2000" dirty="0"/>
              <a:t>(против вирусов</a:t>
            </a:r>
            <a:r>
              <a:rPr lang="ru-RU" sz="2000" dirty="0" smtClean="0"/>
              <a:t>).</a:t>
            </a:r>
            <a:endParaRPr lang="en-US" sz="2000" dirty="0" smtClean="0"/>
          </a:p>
          <a:p>
            <a:pPr marL="0" indent="0">
              <a:buNone/>
            </a:pPr>
            <a:endParaRPr lang="az-Latn-AZ" sz="2000" b="1" dirty="0" smtClean="0"/>
          </a:p>
          <a:p>
            <a:pPr marL="0" indent="0">
              <a:buNone/>
            </a:pPr>
            <a:r>
              <a:rPr lang="ru-RU" sz="2000" b="1" dirty="0" smtClean="0"/>
              <a:t>Особенности НПВ</a:t>
            </a:r>
            <a:r>
              <a:rPr lang="az-Latn-AZ" sz="2000" b="1" dirty="0" smtClean="0"/>
              <a:t>C</a:t>
            </a:r>
          </a:p>
          <a:p>
            <a:pPr marL="0" indent="0">
              <a:buNone/>
            </a:pPr>
            <a:r>
              <a:rPr lang="ru-RU" sz="2000" dirty="0" smtClean="0"/>
              <a:t>Препараты </a:t>
            </a:r>
            <a:r>
              <a:rPr lang="ru-RU" sz="2000" dirty="0"/>
              <a:t>этой группы обладают тремя основными свойствами</a:t>
            </a:r>
            <a:r>
              <a:rPr lang="ru-RU" sz="2000" dirty="0" smtClean="0"/>
              <a:t>:</a:t>
            </a:r>
            <a:r>
              <a:rPr lang="az-Latn-AZ" sz="2000" dirty="0" smtClean="0"/>
              <a:t> </a:t>
            </a:r>
          </a:p>
          <a:p>
            <a:r>
              <a:rPr lang="ru-RU" sz="2000" i="1" dirty="0" smtClean="0"/>
              <a:t>Анальгезирующее</a:t>
            </a:r>
            <a:r>
              <a:rPr lang="ru-RU" sz="2000" dirty="0" smtClean="0"/>
              <a:t> </a:t>
            </a:r>
            <a:r>
              <a:rPr lang="ru-RU" sz="2000" dirty="0"/>
              <a:t>(обезболивающее</a:t>
            </a:r>
            <a:r>
              <a:rPr lang="ru-RU" sz="2000" dirty="0" smtClean="0"/>
              <a:t>);</a:t>
            </a:r>
            <a:endParaRPr lang="az-Latn-AZ" sz="2000" dirty="0" smtClean="0"/>
          </a:p>
          <a:p>
            <a:r>
              <a:rPr lang="ru-RU" sz="2000" i="1" dirty="0" smtClean="0"/>
              <a:t>Антипиретическое</a:t>
            </a:r>
            <a:r>
              <a:rPr lang="ru-RU" sz="2000" dirty="0" smtClean="0"/>
              <a:t> </a:t>
            </a:r>
            <a:r>
              <a:rPr lang="ru-RU" sz="2000" dirty="0"/>
              <a:t>(жаропонижающее</a:t>
            </a:r>
            <a:r>
              <a:rPr lang="ru-RU" sz="2000" dirty="0" smtClean="0"/>
              <a:t>);</a:t>
            </a:r>
            <a:endParaRPr lang="az-Latn-AZ" sz="2000" dirty="0" smtClean="0"/>
          </a:p>
          <a:p>
            <a:r>
              <a:rPr lang="ru-RU" sz="2000" i="1" dirty="0" smtClean="0"/>
              <a:t>Противовоспалительное</a:t>
            </a:r>
            <a:r>
              <a:rPr lang="ru-RU" sz="2000" dirty="0" smtClean="0"/>
              <a:t>.</a:t>
            </a:r>
            <a:endParaRPr lang="az-Latn-AZ" sz="2000" dirty="0" smtClean="0"/>
          </a:p>
        </p:txBody>
      </p:sp>
      <p:sp>
        <p:nvSpPr>
          <p:cNvPr id="5" name="Пятиугольник 4"/>
          <p:cNvSpPr/>
          <p:nvPr/>
        </p:nvSpPr>
        <p:spPr>
          <a:xfrm>
            <a:off x="0" y="0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i="1" dirty="0" smtClean="0">
                <a:solidFill>
                  <a:srgbClr val="C00000"/>
                </a:solidFill>
              </a:rPr>
              <a:t>5</a:t>
            </a:r>
            <a:endParaRPr lang="en-GB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26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0"/>
            <a:ext cx="6937248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92696"/>
            <a:ext cx="899998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az-Latn-AZ" sz="2000" dirty="0"/>
          </a:p>
          <a:p>
            <a:r>
              <a:rPr lang="ru-RU" sz="2000" b="1" dirty="0" smtClean="0">
                <a:solidFill>
                  <a:srgbClr val="C00000"/>
                </a:solidFill>
              </a:rPr>
              <a:t>Противопоказания </a:t>
            </a:r>
            <a:r>
              <a:rPr lang="ru-RU" sz="2000" b="1" dirty="0">
                <a:solidFill>
                  <a:srgbClr val="C00000"/>
                </a:solidFill>
              </a:rPr>
              <a:t>и ограничения</a:t>
            </a:r>
            <a:r>
              <a:rPr lang="ru-RU" sz="2000" b="1" dirty="0" smtClean="0">
                <a:solidFill>
                  <a:srgbClr val="C00000"/>
                </a:solidFill>
              </a:rPr>
              <a:t>:</a:t>
            </a:r>
            <a:r>
              <a:rPr lang="az-Latn-AZ" sz="2000" b="1" dirty="0" smtClean="0">
                <a:solidFill>
                  <a:srgbClr val="C00000"/>
                </a:solidFill>
              </a:rPr>
              <a:t> </a:t>
            </a:r>
          </a:p>
          <a:p>
            <a:endParaRPr lang="az-Latn-AZ" sz="2000" b="1" dirty="0" smtClean="0">
              <a:solidFill>
                <a:srgbClr val="C00000"/>
              </a:solidFill>
            </a:endParaRPr>
          </a:p>
          <a:p>
            <a:r>
              <a:rPr lang="ru-RU" sz="2000" dirty="0" smtClean="0"/>
              <a:t>НПВ</a:t>
            </a:r>
            <a:r>
              <a:rPr lang="az-Latn-AZ" sz="2000" dirty="0" smtClean="0"/>
              <a:t>C </a:t>
            </a:r>
            <a:r>
              <a:rPr lang="ru-RU" sz="2000" dirty="0" smtClean="0"/>
              <a:t>противопоказаны </a:t>
            </a:r>
            <a:r>
              <a:rPr lang="ru-RU" sz="2000" dirty="0"/>
              <a:t>при заболеваниях желудочно-кишечного тракта (гастрит, язвенная болезнь, желудочное кровотечение), так как они агрессивно воздействуют на слизистую оболочку</a:t>
            </a:r>
            <a:r>
              <a:rPr lang="ru-RU" sz="2000" dirty="0" smtClean="0"/>
              <a:t>.</a:t>
            </a:r>
            <a:endParaRPr lang="az-Latn-AZ" sz="2000" dirty="0" smtClean="0"/>
          </a:p>
          <a:p>
            <a:endParaRPr lang="az-Latn-AZ" sz="2000" dirty="0"/>
          </a:p>
          <a:p>
            <a:r>
              <a:rPr lang="ru-RU" sz="2000" dirty="0" smtClean="0"/>
              <a:t>Важно </a:t>
            </a:r>
            <a:r>
              <a:rPr lang="ru-RU" sz="2000" dirty="0"/>
              <a:t>помнить: эти препараты эффективно устраняют симптомы воспаления (боль, отек, жар), но не воздействуют на причину (возбудителя) </a:t>
            </a:r>
            <a:r>
              <a:rPr lang="ru-RU" sz="2000" dirty="0" smtClean="0"/>
              <a:t>заболевания</a:t>
            </a:r>
            <a:r>
              <a:rPr lang="az-Latn-AZ" sz="2000" dirty="0" smtClean="0"/>
              <a:t>.</a:t>
            </a:r>
          </a:p>
          <a:p>
            <a:endParaRPr lang="az-Latn-AZ" sz="2000" dirty="0"/>
          </a:p>
          <a:p>
            <a:endParaRPr lang="az-Latn-AZ" sz="2000" dirty="0" smtClean="0"/>
          </a:p>
          <a:p>
            <a:endParaRPr lang="az-Latn-AZ" sz="2000" dirty="0"/>
          </a:p>
          <a:p>
            <a:r>
              <a:rPr lang="ru-RU" sz="2000" dirty="0">
                <a:solidFill>
                  <a:srgbClr val="C00000"/>
                </a:solidFill>
              </a:rPr>
              <a:t>Важные термины:</a:t>
            </a:r>
          </a:p>
          <a:p>
            <a:r>
              <a:rPr lang="ru-RU" sz="2000" i="1" dirty="0"/>
              <a:t>Гипертермия</a:t>
            </a:r>
            <a:r>
              <a:rPr lang="ru-RU" sz="2000" dirty="0"/>
              <a:t> — повышение температуры тела.</a:t>
            </a:r>
          </a:p>
          <a:p>
            <a:r>
              <a:rPr lang="ru-RU" sz="2000" i="1" dirty="0"/>
              <a:t>Гипотермия</a:t>
            </a:r>
            <a:r>
              <a:rPr lang="ru-RU" sz="2000" dirty="0"/>
              <a:t> — понижение температуры тела.</a:t>
            </a:r>
          </a:p>
          <a:p>
            <a:endParaRPr lang="az-Latn-AZ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763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1575306"/>
              </p:ext>
            </p:extLst>
          </p:nvPr>
        </p:nvGraphicFramePr>
        <p:xfrm>
          <a:off x="0" y="3"/>
          <a:ext cx="9144000" cy="684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26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465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8475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6669">
                <a:tc>
                  <a:txBody>
                    <a:bodyPr/>
                    <a:lstStyle/>
                    <a:p>
                      <a:pPr algn="ctr"/>
                      <a:r>
                        <a:rPr lang="ru-RU" sz="2000" i="1" dirty="0" smtClean="0"/>
                        <a:t>Международное название (МНН)</a:t>
                      </a:r>
                      <a:endParaRPr lang="ru-RU" sz="20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i="1" dirty="0" smtClean="0">
                          <a:solidFill>
                            <a:schemeClr val="tx1"/>
                          </a:solidFill>
                        </a:rPr>
                        <a:t>Дозировка</a:t>
                      </a:r>
                      <a:endParaRPr lang="ru-RU" sz="28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i="1" dirty="0" smtClean="0">
                          <a:solidFill>
                            <a:schemeClr val="tx1"/>
                          </a:solidFill>
                        </a:rPr>
                        <a:t>Торговое</a:t>
                      </a:r>
                      <a:r>
                        <a:rPr lang="ru-RU" sz="28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800" i="1" dirty="0" smtClean="0">
                          <a:solidFill>
                            <a:schemeClr val="tx1"/>
                          </a:solidFill>
                        </a:rPr>
                        <a:t>название</a:t>
                      </a:r>
                      <a:endParaRPr lang="ru-RU" sz="28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0557"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M</a:t>
                      </a:r>
                      <a:r>
                        <a:rPr lang="ru-RU" sz="2000" dirty="0" smtClean="0"/>
                        <a:t>етамизол</a:t>
                      </a:r>
                      <a:endParaRPr lang="az-Latn-AZ" sz="2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500 mg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Analqin,baralqin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4357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Парацетамол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200mg ; 500mg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Panadol</a:t>
                      </a:r>
                      <a:r>
                        <a:rPr lang="en-US" sz="1600" dirty="0" smtClean="0"/>
                        <a:t>,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2000" baseline="0" dirty="0" err="1" smtClean="0"/>
                        <a:t>infulqan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987917054"/>
                  </a:ext>
                </a:extLst>
              </a:tr>
              <a:tr h="431524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Диклофенак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25;</a:t>
                      </a:r>
                      <a:r>
                        <a:rPr lang="az-Latn-AZ" sz="2000" baseline="0" dirty="0" smtClean="0"/>
                        <a:t> 50 və 100 mg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Voltaren,ortofen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8681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Ациклофенак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Vacenac,Aertal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1524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Ибупрофен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100;200;400;600</a:t>
                      </a:r>
                      <a:r>
                        <a:rPr lang="az-Latn-AZ" sz="2000" baseline="0" dirty="0" smtClean="0"/>
                        <a:t> mg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Nurafen,Gofen</a:t>
                      </a:r>
                      <a:r>
                        <a:rPr lang="en-US" sz="2000" dirty="0" smtClean="0"/>
                        <a:t>, </a:t>
                      </a:r>
                      <a:r>
                        <a:rPr lang="az-Latn-AZ" sz="2000" dirty="0" smtClean="0"/>
                        <a:t>İ</a:t>
                      </a:r>
                      <a:r>
                        <a:rPr lang="en-US" sz="2000" dirty="0" err="1" smtClean="0"/>
                        <a:t>bufen</a:t>
                      </a:r>
                      <a:r>
                        <a:rPr lang="en-US" sz="2000" dirty="0" smtClean="0"/>
                        <a:t>-D</a:t>
                      </a:r>
                      <a:r>
                        <a:rPr lang="az-Latn-AZ" sz="2000" dirty="0" smtClean="0"/>
                        <a:t>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47379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Флуибупрофен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Majezik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3187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Напроксен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Nalgezin</a:t>
                      </a:r>
                      <a:r>
                        <a:rPr lang="az-Latn-AZ" sz="1800" baseline="0" dirty="0" smtClean="0"/>
                        <a:t>,aksen forte,apranax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189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Нимесулид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Nimesil,Specilid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4368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Теноксикам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20 və 40 mg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Artoxan 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1041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Лорноксикам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4mg və 8mg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Ksefokam 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31524"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Me</a:t>
                      </a:r>
                      <a:r>
                        <a:rPr lang="ru-RU" sz="1800" dirty="0" smtClean="0"/>
                        <a:t>локсикам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7,5</a:t>
                      </a:r>
                      <a:r>
                        <a:rPr lang="az-Latn-AZ" sz="1800" baseline="0" dirty="0" smtClean="0"/>
                        <a:t> və 15 mg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Movalis,melbek,loxidol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31524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Кетопрофен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50mg.100mg.150mg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Ketonal,profenid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31524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Декскетопрофен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Deksalqin,proketan D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1524"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K</a:t>
                      </a:r>
                      <a:r>
                        <a:rPr lang="ru-RU" sz="1800" dirty="0" smtClean="0"/>
                        <a:t>еторолак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30mg/ml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Offdol,algikey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75951">
                <a:tc>
                  <a:txBody>
                    <a:bodyPr/>
                    <a:lstStyle/>
                    <a:p>
                      <a:r>
                        <a:rPr lang="ru-RU" sz="1800" baseline="0" dirty="0" smtClean="0"/>
                        <a:t>Этодолак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Etol,Etadin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02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1930</TotalTime>
  <Words>562</Words>
  <Application>Microsoft Office PowerPoint</Application>
  <PresentationFormat>On-screen Show (4:3)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Aysel</dc:creator>
  <cp:lastModifiedBy>Seymur</cp:lastModifiedBy>
  <cp:revision>68</cp:revision>
  <dcterms:created xsi:type="dcterms:W3CDTF">2019-10-21T05:54:53Z</dcterms:created>
  <dcterms:modified xsi:type="dcterms:W3CDTF">2026-03-31T11:45:52Z</dcterms:modified>
</cp:coreProperties>
</file>