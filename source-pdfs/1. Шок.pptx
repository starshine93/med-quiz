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2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79" autoAdjust="0"/>
    <p:restoredTop sz="94660"/>
  </p:normalViewPr>
  <p:slideViewPr>
    <p:cSldViewPr>
      <p:cViewPr varScale="1">
        <p:scale>
          <a:sx n="87" d="100"/>
          <a:sy n="87" d="100"/>
        </p:scale>
        <p:origin x="96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068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22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48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407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336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648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661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14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17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9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21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B008B-170B-4874-8942-9C1654A221AA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AF45B-B8CE-499F-8176-2A301F0EF3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9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0"/>
            <a:ext cx="6941556" cy="6858000"/>
          </a:xfrm>
          <a:prstGeom prst="rect">
            <a:avLst/>
          </a:prstGeom>
        </p:spPr>
      </p:pic>
      <p:sp>
        <p:nvSpPr>
          <p:cNvPr id="5" name="Pentagon 4"/>
          <p:cNvSpPr/>
          <p:nvPr/>
        </p:nvSpPr>
        <p:spPr>
          <a:xfrm>
            <a:off x="0" y="0"/>
            <a:ext cx="1101222" cy="47667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dirty="0" smtClean="0">
                <a:solidFill>
                  <a:srgbClr val="C00000"/>
                </a:solidFill>
              </a:rPr>
              <a:t>1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99792" y="2459504"/>
            <a:ext cx="46338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i="1" dirty="0">
                <a:solidFill>
                  <a:srgbClr val="C00000"/>
                </a:solidFill>
              </a:rPr>
              <a:t>Шоковые состояния</a:t>
            </a:r>
            <a:endParaRPr lang="en-US" sz="60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206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-41121"/>
            <a:ext cx="6941556" cy="6858000"/>
          </a:xfrm>
          <a:prstGeom prst="rect">
            <a:avLst/>
          </a:prstGeom>
        </p:spPr>
      </p:pic>
      <p:sp>
        <p:nvSpPr>
          <p:cNvPr id="5" name="Пятиугольник 4"/>
          <p:cNvSpPr/>
          <p:nvPr/>
        </p:nvSpPr>
        <p:spPr>
          <a:xfrm>
            <a:off x="0" y="0"/>
            <a:ext cx="1115616" cy="47667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dirty="0" smtClean="0">
                <a:solidFill>
                  <a:srgbClr val="C00000"/>
                </a:solidFill>
              </a:rPr>
              <a:t>2</a:t>
            </a:r>
            <a:endParaRPr lang="en-US" sz="48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" y="528240"/>
            <a:ext cx="914400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Шок — от английского shock, что означает «удар, толчок</a:t>
            </a:r>
            <a:r>
              <a:rPr lang="ru-RU" sz="2400" dirty="0" smtClean="0"/>
              <a:t>»</a:t>
            </a:r>
            <a:r>
              <a:rPr lang="en-US" sz="2400" dirty="0" smtClean="0"/>
              <a:t>.</a:t>
            </a:r>
            <a:r>
              <a:rPr lang="ru-RU" sz="2400" dirty="0"/>
              <a:t> </a:t>
            </a:r>
            <a:endParaRPr lang="ru-RU" sz="2400" dirty="0" smtClean="0"/>
          </a:p>
          <a:p>
            <a:endParaRPr lang="en-US" sz="2400" dirty="0" smtClean="0"/>
          </a:p>
          <a:p>
            <a:r>
              <a:rPr lang="ru-RU" sz="2400" dirty="0" smtClean="0"/>
              <a:t>Шоковые </a:t>
            </a:r>
            <a:r>
              <a:rPr lang="ru-RU" sz="2400" dirty="0"/>
              <a:t>состояния — это тяжёлые, угрожающие жизни патологические реакции организма, возникающие в ответ на действие сильных повреждающих факторов. Они сопровождаются резким нарушением кровообращения, дыхания, нервной регуляции и обмена веществ, что приводит к недостаточному кровоснабжению жизненно важных органов и развитию полиорганной недостаточности</a:t>
            </a:r>
            <a:r>
              <a:rPr lang="ru-RU" sz="2400" dirty="0" smtClean="0"/>
              <a:t>.</a:t>
            </a:r>
          </a:p>
          <a:p>
            <a:endParaRPr lang="en-US" sz="2400" dirty="0" smtClean="0"/>
          </a:p>
          <a:p>
            <a:r>
              <a:rPr lang="ru-RU" sz="2400" dirty="0" smtClean="0">
                <a:solidFill>
                  <a:srgbClr val="C00000"/>
                </a:solidFill>
              </a:rPr>
              <a:t>Общие </a:t>
            </a:r>
            <a:r>
              <a:rPr lang="ru-RU" sz="2400" dirty="0">
                <a:solidFill>
                  <a:srgbClr val="C00000"/>
                </a:solidFill>
              </a:rPr>
              <a:t>признаки шоковых </a:t>
            </a:r>
            <a:r>
              <a:rPr lang="ru-RU" sz="2400" dirty="0" smtClean="0">
                <a:solidFill>
                  <a:srgbClr val="C00000"/>
                </a:solidFill>
              </a:rPr>
              <a:t>состояний</a:t>
            </a:r>
            <a:r>
              <a:rPr lang="ru-RU" sz="2400" dirty="0" smtClean="0"/>
              <a:t>: выраженное </a:t>
            </a:r>
            <a:r>
              <a:rPr lang="ru-RU" sz="2400" dirty="0"/>
              <a:t>снижение артериального </a:t>
            </a:r>
            <a:r>
              <a:rPr lang="ru-RU" sz="2400" dirty="0" smtClean="0"/>
              <a:t>давления; учащённый </a:t>
            </a:r>
            <a:r>
              <a:rPr lang="ru-RU" sz="2400" dirty="0"/>
              <a:t>пульс (тахикардия), позже — его </a:t>
            </a:r>
            <a:r>
              <a:rPr lang="ru-RU" sz="2400" dirty="0" smtClean="0"/>
              <a:t>ослабление; головокружение</a:t>
            </a:r>
            <a:r>
              <a:rPr lang="ru-RU" sz="2400" dirty="0"/>
              <a:t>, потемнение в глазах;	</a:t>
            </a:r>
            <a:r>
              <a:rPr lang="ru-RU" sz="2400" dirty="0" smtClean="0"/>
              <a:t>холодная </a:t>
            </a:r>
            <a:r>
              <a:rPr lang="ru-RU" sz="2400" dirty="0"/>
              <a:t>бледная кожа, холодный липкий </a:t>
            </a:r>
            <a:r>
              <a:rPr lang="ru-RU" sz="2400" dirty="0" smtClean="0"/>
              <a:t>пот; беспокойство</a:t>
            </a:r>
            <a:r>
              <a:rPr lang="ru-RU" sz="2400" dirty="0"/>
              <a:t>, затем угнетение </a:t>
            </a:r>
            <a:r>
              <a:rPr lang="ru-RU" sz="2400" dirty="0" smtClean="0"/>
              <a:t>сознания; слабость</a:t>
            </a:r>
            <a:r>
              <a:rPr lang="ru-RU" sz="2400" dirty="0"/>
              <a:t>, возможная потеря сознания.</a:t>
            </a:r>
            <a:endParaRPr lang="en-US" sz="2400" dirty="0" smtClean="0"/>
          </a:p>
          <a:p>
            <a:endParaRPr lang="en-US" sz="2400" dirty="0" smtClean="0"/>
          </a:p>
          <a:p>
            <a:endParaRPr lang="az-Latn-AZ" sz="2400" dirty="0" smtClean="0"/>
          </a:p>
        </p:txBody>
      </p:sp>
    </p:spTree>
    <p:extLst>
      <p:ext uri="{BB962C8B-B14F-4D97-AF65-F5344CB8AC3E}">
        <p14:creationId xmlns:p14="http://schemas.microsoft.com/office/powerpoint/2010/main" val="3689616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855154" cy="6858000"/>
          </a:xfrm>
          <a:prstGeom prst="rect">
            <a:avLst/>
          </a:prstGeom>
        </p:spPr>
      </p:pic>
      <p:sp>
        <p:nvSpPr>
          <p:cNvPr id="5" name="Пятиугольник 4"/>
          <p:cNvSpPr/>
          <p:nvPr/>
        </p:nvSpPr>
        <p:spPr>
          <a:xfrm>
            <a:off x="0" y="0"/>
            <a:ext cx="1101222" cy="47667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dirty="0" smtClean="0">
                <a:solidFill>
                  <a:srgbClr val="C00000"/>
                </a:solidFill>
              </a:rPr>
              <a:t>3</a:t>
            </a:r>
            <a:endParaRPr lang="en-US" sz="4800" b="1" dirty="0">
              <a:solidFill>
                <a:srgbClr val="C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9512" y="380876"/>
            <a:ext cx="896448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/>
              <a:t>1</a:t>
            </a:r>
            <a:r>
              <a:rPr lang="en-US" sz="2000" b="1" i="1" dirty="0"/>
              <a:t>. </a:t>
            </a:r>
            <a:r>
              <a:rPr lang="ru-RU" sz="2000" b="1" i="1" dirty="0"/>
              <a:t>Гиповолемический </a:t>
            </a:r>
            <a:r>
              <a:rPr lang="ru-RU" sz="2000" b="1" i="1" dirty="0" smtClean="0"/>
              <a:t>шок. </a:t>
            </a:r>
            <a:r>
              <a:rPr lang="ru-RU" sz="2000" dirty="0" smtClean="0"/>
              <a:t>Возникает </a:t>
            </a:r>
            <a:r>
              <a:rPr lang="ru-RU" sz="2000" dirty="0"/>
              <a:t>при значительной потере жидкости или плазмы</a:t>
            </a:r>
            <a:r>
              <a:rPr lang="ru-RU" sz="2000" dirty="0" smtClean="0"/>
              <a:t>.</a:t>
            </a:r>
            <a:r>
              <a:rPr lang="en-US" sz="2000" dirty="0" smtClean="0"/>
              <a:t> </a:t>
            </a:r>
            <a:r>
              <a:rPr lang="ru-RU" sz="2000" dirty="0" smtClean="0"/>
              <a:t>Причины</a:t>
            </a:r>
            <a:r>
              <a:rPr lang="ru-RU" sz="2000" dirty="0"/>
              <a:t>: обезвоживание, ожоги, рвота, диарея</a:t>
            </a:r>
            <a:r>
              <a:rPr lang="ru-RU" sz="2000" dirty="0" smtClean="0"/>
              <a:t>.</a:t>
            </a:r>
            <a:r>
              <a:rPr lang="en-US" sz="2000" dirty="0" smtClean="0"/>
              <a:t> </a:t>
            </a:r>
            <a:r>
              <a:rPr lang="ru-RU" sz="2000" dirty="0" smtClean="0"/>
              <a:t>Лечение</a:t>
            </a:r>
            <a:r>
              <a:rPr lang="ru-RU" sz="2000" dirty="0"/>
              <a:t>: восполнение объёма жидкости — растворы NaCl, Рингера и др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r>
              <a:rPr lang="ru-RU" sz="2000" b="1" dirty="0" smtClean="0"/>
              <a:t>2</a:t>
            </a:r>
            <a:r>
              <a:rPr lang="ru-RU" sz="2000" b="1" dirty="0"/>
              <a:t>. </a:t>
            </a:r>
            <a:r>
              <a:rPr lang="ru-RU" sz="2000" b="1" i="1" dirty="0"/>
              <a:t>Геморрагический </a:t>
            </a:r>
            <a:r>
              <a:rPr lang="ru-RU" sz="2000" b="1" i="1" dirty="0" smtClean="0"/>
              <a:t>шок. </a:t>
            </a:r>
            <a:r>
              <a:rPr lang="ru-RU" sz="2000" dirty="0" smtClean="0"/>
              <a:t>Развивается </a:t>
            </a:r>
            <a:r>
              <a:rPr lang="ru-RU" sz="2000" dirty="0"/>
              <a:t>при массивной кровопотере</a:t>
            </a:r>
            <a:r>
              <a:rPr lang="ru-RU" sz="2000" dirty="0" smtClean="0"/>
              <a:t>.</a:t>
            </a:r>
            <a:r>
              <a:rPr lang="en-US" sz="2000" dirty="0" smtClean="0"/>
              <a:t> </a:t>
            </a:r>
            <a:r>
              <a:rPr lang="ru-RU" sz="2000" dirty="0" smtClean="0"/>
              <a:t>Лечение</a:t>
            </a:r>
            <a:r>
              <a:rPr lang="ru-RU" sz="2000" dirty="0"/>
              <a:t>: остановка кровотечения, гемостатические средства, переливание крови и её компонентов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r>
              <a:rPr lang="ru-RU" sz="2000" b="1" dirty="0" smtClean="0"/>
              <a:t>3</a:t>
            </a:r>
            <a:r>
              <a:rPr lang="ru-RU" sz="2000" b="1" dirty="0"/>
              <a:t>.</a:t>
            </a:r>
            <a:r>
              <a:rPr lang="ru-RU" sz="2000" dirty="0"/>
              <a:t> </a:t>
            </a:r>
            <a:r>
              <a:rPr lang="ru-RU" sz="2000" b="1" i="1" dirty="0"/>
              <a:t>Травматический (болевой) </a:t>
            </a:r>
            <a:r>
              <a:rPr lang="ru-RU" sz="2000" b="1" i="1" dirty="0" smtClean="0"/>
              <a:t>шок. </a:t>
            </a:r>
            <a:r>
              <a:rPr lang="ru-RU" sz="2000" dirty="0" smtClean="0"/>
              <a:t>Возникает </a:t>
            </a:r>
            <a:r>
              <a:rPr lang="ru-RU" sz="2000" dirty="0"/>
              <a:t>при тяжёлых травмах и выраженном болевом синдроме</a:t>
            </a:r>
            <a:r>
              <a:rPr lang="ru-RU" sz="2000" dirty="0" smtClean="0"/>
              <a:t>.</a:t>
            </a:r>
            <a:r>
              <a:rPr lang="en-US" sz="2000" dirty="0" smtClean="0"/>
              <a:t> </a:t>
            </a:r>
            <a:r>
              <a:rPr lang="ru-RU" sz="2000" dirty="0" smtClean="0"/>
              <a:t>Лечение</a:t>
            </a:r>
            <a:r>
              <a:rPr lang="ru-RU" sz="2000" dirty="0"/>
              <a:t>: наркотические анальгетики (Морфин, Промедол, Трамадол), иммобилизация, инфузии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r>
              <a:rPr lang="ru-RU" sz="2000" b="1" i="1" dirty="0"/>
              <a:t>4. Анафилактический </a:t>
            </a:r>
            <a:r>
              <a:rPr lang="ru-RU" sz="2000" b="1" i="1" dirty="0" smtClean="0"/>
              <a:t>шок. </a:t>
            </a:r>
            <a:r>
              <a:rPr lang="ru-RU" sz="2000" dirty="0" smtClean="0"/>
              <a:t>Тяжёлая </a:t>
            </a:r>
            <a:r>
              <a:rPr lang="ru-RU" sz="2000" dirty="0"/>
              <a:t>аллергическая реакция немедленного </a:t>
            </a:r>
            <a:r>
              <a:rPr lang="ru-RU" sz="2000" dirty="0" smtClean="0"/>
              <a:t>типа.</a:t>
            </a:r>
            <a:r>
              <a:rPr lang="en-US" sz="2000" dirty="0" smtClean="0"/>
              <a:t> </a:t>
            </a:r>
            <a:r>
              <a:rPr lang="ru-RU" sz="2000" dirty="0" smtClean="0"/>
              <a:t>Лечение</a:t>
            </a:r>
            <a:r>
              <a:rPr lang="ru-RU" sz="2000" dirty="0"/>
              <a:t>: </a:t>
            </a:r>
            <a:r>
              <a:rPr lang="ru-RU" sz="2000" dirty="0" smtClean="0"/>
              <a:t>адреналин — препарат выбора, антигистаминные</a:t>
            </a:r>
            <a:r>
              <a:rPr lang="ru-RU" sz="2000" dirty="0"/>
              <a:t>, </a:t>
            </a:r>
            <a:r>
              <a:rPr lang="ru-RU" sz="2000" dirty="0" smtClean="0"/>
              <a:t>глюкокортикостероиды, инфузии.</a:t>
            </a:r>
            <a:endParaRPr lang="en-US" sz="2000" dirty="0" smtClean="0"/>
          </a:p>
          <a:p>
            <a:r>
              <a:rPr lang="ru-RU" sz="2000" b="1" i="1" dirty="0" smtClean="0"/>
              <a:t>5</a:t>
            </a:r>
            <a:r>
              <a:rPr lang="ru-RU" sz="2000" b="1" i="1" dirty="0"/>
              <a:t>. Септический </a:t>
            </a:r>
            <a:r>
              <a:rPr lang="ru-RU" sz="2000" b="1" i="1" dirty="0" smtClean="0"/>
              <a:t>шок</a:t>
            </a:r>
            <a:r>
              <a:rPr lang="en-US" sz="2000" b="1" i="1" dirty="0" smtClean="0"/>
              <a:t> </a:t>
            </a:r>
            <a:r>
              <a:rPr lang="ru-RU" sz="2000" b="1" i="1" dirty="0" smtClean="0"/>
              <a:t>. </a:t>
            </a:r>
            <a:r>
              <a:rPr lang="ru-RU" sz="2000" dirty="0" smtClean="0"/>
              <a:t>Вызывается </a:t>
            </a:r>
            <a:r>
              <a:rPr lang="ru-RU" sz="2000" dirty="0"/>
              <a:t>попаданием бактерий в кровь и системной </a:t>
            </a:r>
            <a:r>
              <a:rPr lang="ru-RU" sz="2000" dirty="0" smtClean="0"/>
              <a:t>инфекцией.Лечение</a:t>
            </a:r>
            <a:r>
              <a:rPr lang="ru-RU" sz="2000" dirty="0"/>
              <a:t>: антибиотики широкого спектра, инфузионная терапия, поддержка функций </a:t>
            </a:r>
            <a:r>
              <a:rPr lang="ru-RU" sz="2000" dirty="0" smtClean="0"/>
              <a:t>органов.</a:t>
            </a:r>
          </a:p>
          <a:p>
            <a:r>
              <a:rPr lang="ru-RU" sz="2000" b="1" i="1" dirty="0"/>
              <a:t>6. Кардиогенный </a:t>
            </a:r>
            <a:r>
              <a:rPr lang="ru-RU" sz="2000" b="1" i="1" dirty="0" smtClean="0"/>
              <a:t>шок. </a:t>
            </a:r>
            <a:r>
              <a:rPr lang="ru-RU" sz="2000" dirty="0" smtClean="0"/>
              <a:t>Связан </a:t>
            </a:r>
            <a:r>
              <a:rPr lang="ru-RU" sz="2000" dirty="0"/>
              <a:t>с тяжёлым нарушением работы сердца.Причины: инфаркт, аритмии, кардиомиопатии.Лечение: поддержка сердечной деятельности, вазопрессоры, сердечные гликозиды</a:t>
            </a:r>
            <a:r>
              <a:rPr lang="ru-RU" sz="2000" dirty="0" smtClean="0"/>
              <a:t>.</a:t>
            </a:r>
          </a:p>
          <a:p>
            <a:r>
              <a:rPr lang="ru-RU" sz="2000" b="1" i="1" dirty="0" smtClean="0"/>
              <a:t>7</a:t>
            </a:r>
            <a:r>
              <a:rPr lang="ru-RU" sz="2000" b="1" i="1" dirty="0"/>
              <a:t>. Комбинированный </a:t>
            </a:r>
            <a:r>
              <a:rPr lang="ru-RU" sz="2000" b="1" i="1" dirty="0" smtClean="0"/>
              <a:t>шок. </a:t>
            </a:r>
            <a:r>
              <a:rPr lang="ru-RU" sz="2000" dirty="0" smtClean="0"/>
              <a:t>Развивается </a:t>
            </a:r>
            <a:r>
              <a:rPr lang="ru-RU" sz="2000" dirty="0"/>
              <a:t>при одновременном действии нескольких факторов (например, травма + кровопотеря + инфекция</a:t>
            </a:r>
            <a:r>
              <a:rPr lang="ru-RU" sz="2000" dirty="0" smtClean="0"/>
              <a:t>). Лечение</a:t>
            </a:r>
            <a:r>
              <a:rPr lang="ru-RU" sz="2000" dirty="0"/>
              <a:t>: комплексное, направленное на устранение всех причин.</a:t>
            </a: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-129629"/>
            <a:ext cx="5243014" cy="64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36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5" name="Пятиугольник 4"/>
          <p:cNvSpPr/>
          <p:nvPr/>
        </p:nvSpPr>
        <p:spPr>
          <a:xfrm>
            <a:off x="0" y="0"/>
            <a:ext cx="1101222" cy="47667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>
                <a:solidFill>
                  <a:srgbClr val="C00000"/>
                </a:solidFill>
              </a:rPr>
              <a:t>4</a:t>
            </a:r>
            <a:endParaRPr lang="en-US" sz="4800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08520" y="620688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dirty="0" smtClean="0"/>
          </a:p>
          <a:p>
            <a:endParaRPr lang="az-Latn-AZ" sz="2400" dirty="0"/>
          </a:p>
        </p:txBody>
      </p:sp>
      <p:sp>
        <p:nvSpPr>
          <p:cNvPr id="2" name="Rectangle 1"/>
          <p:cNvSpPr/>
          <p:nvPr/>
        </p:nvSpPr>
        <p:spPr>
          <a:xfrm>
            <a:off x="467544" y="764704"/>
            <a:ext cx="770485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Общие принципы </a:t>
            </a:r>
            <a:r>
              <a:rPr lang="ru-RU" sz="2800" b="1" dirty="0"/>
              <a:t>лечения </a:t>
            </a:r>
            <a:r>
              <a:rPr lang="ru-RU" sz="2800" b="1" dirty="0" smtClean="0"/>
              <a:t>шоковых состояний</a:t>
            </a:r>
            <a:r>
              <a:rPr lang="ru-RU" dirty="0"/>
              <a:t>	</a:t>
            </a:r>
            <a:endParaRPr lang="ru-RU" dirty="0" smtClean="0"/>
          </a:p>
          <a:p>
            <a:endParaRPr lang="ru-RU" dirty="0" smtClean="0"/>
          </a:p>
          <a:p>
            <a:pPr marL="342900" indent="-342900">
              <a:buAutoNum type="arabicPeriod"/>
            </a:pPr>
            <a:r>
              <a:rPr lang="ru-RU" sz="2400" dirty="0" smtClean="0"/>
              <a:t>Быстро </a:t>
            </a:r>
            <a:r>
              <a:rPr lang="ru-RU" sz="2400" dirty="0"/>
              <a:t>устранить причину шока.	</a:t>
            </a:r>
            <a:endParaRPr lang="ru-RU" sz="2400" dirty="0" smtClean="0"/>
          </a:p>
          <a:p>
            <a:pPr marL="342900" indent="-342900">
              <a:buAutoNum type="arabicPeriod"/>
            </a:pPr>
            <a:r>
              <a:rPr lang="ru-RU" sz="2400" dirty="0" smtClean="0"/>
              <a:t>Восстановить </a:t>
            </a:r>
            <a:r>
              <a:rPr lang="ru-RU" sz="2400" dirty="0"/>
              <a:t>артериальное давление — антигипотензивные препараты при необходимости.	</a:t>
            </a:r>
            <a:endParaRPr lang="ru-RU" sz="2400" dirty="0" smtClean="0"/>
          </a:p>
          <a:p>
            <a:pPr marL="342900" indent="-342900">
              <a:buAutoNum type="arabicPeriod"/>
            </a:pPr>
            <a:r>
              <a:rPr lang="ru-RU" sz="2400" dirty="0"/>
              <a:t>СЛР</a:t>
            </a:r>
            <a:endParaRPr lang="ru-RU" sz="2400" dirty="0" smtClean="0"/>
          </a:p>
          <a:p>
            <a:pPr marL="342900" indent="-342900">
              <a:buAutoNum type="arabicPeriod"/>
            </a:pPr>
            <a:r>
              <a:rPr lang="ru-RU" sz="2400" dirty="0" smtClean="0"/>
              <a:t>Восстановить </a:t>
            </a:r>
            <a:r>
              <a:rPr lang="ru-RU" sz="2400" dirty="0"/>
              <a:t>дыхание и оксигенацию.	</a:t>
            </a:r>
            <a:endParaRPr lang="ru-RU" sz="2400" dirty="0" smtClean="0"/>
          </a:p>
          <a:p>
            <a:r>
              <a:rPr lang="ru-RU" sz="2400" dirty="0" smtClean="0"/>
              <a:t>5</a:t>
            </a:r>
            <a:r>
              <a:rPr lang="ru-RU" sz="2400" dirty="0"/>
              <a:t>. </a:t>
            </a:r>
            <a:r>
              <a:rPr lang="ru-RU" sz="2400" dirty="0" smtClean="0"/>
              <a:t>Обеспечить </a:t>
            </a:r>
            <a:r>
              <a:rPr lang="ru-RU" sz="2400" dirty="0"/>
              <a:t>адекватный объём циркулирующей крови — инфузионная терапия.	</a:t>
            </a:r>
          </a:p>
          <a:p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323528" y="5589240"/>
            <a:ext cx="74896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C00000"/>
                </a:solidFill>
              </a:rPr>
              <a:t>При анафилактическом </a:t>
            </a:r>
            <a:r>
              <a:rPr lang="ru-RU" sz="2000" dirty="0" smtClean="0">
                <a:solidFill>
                  <a:srgbClr val="C00000"/>
                </a:solidFill>
              </a:rPr>
              <a:t>шоке: Адреналин </a:t>
            </a:r>
            <a:r>
              <a:rPr lang="ru-RU" sz="2000" dirty="0">
                <a:solidFill>
                  <a:srgbClr val="C00000"/>
                </a:solidFill>
              </a:rPr>
              <a:t>0,1% - 0,5 мл </a:t>
            </a:r>
            <a:r>
              <a:rPr lang="ru-RU" sz="2000" dirty="0" smtClean="0">
                <a:solidFill>
                  <a:srgbClr val="C00000"/>
                </a:solidFill>
              </a:rPr>
              <a:t>в/м</a:t>
            </a:r>
          </a:p>
          <a:p>
            <a:r>
              <a:rPr lang="ru-RU" sz="2000" dirty="0" smtClean="0">
                <a:solidFill>
                  <a:srgbClr val="C00000"/>
                </a:solidFill>
              </a:rPr>
              <a:t>Преднизолон </a:t>
            </a:r>
            <a:r>
              <a:rPr lang="ru-RU" sz="2000" dirty="0">
                <a:solidFill>
                  <a:srgbClr val="C00000"/>
                </a:solidFill>
              </a:rPr>
              <a:t>150 мг или Дексаметазон 20 мг в/в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46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316</Words>
  <Application>Microsoft Office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Şoklar</dc:title>
  <dc:creator>Aysel</dc:creator>
  <cp:lastModifiedBy>Seymur</cp:lastModifiedBy>
  <cp:revision>27</cp:revision>
  <dcterms:created xsi:type="dcterms:W3CDTF">2020-01-11T12:37:39Z</dcterms:created>
  <dcterms:modified xsi:type="dcterms:W3CDTF">2025-12-13T07:58:45Z</dcterms:modified>
</cp:coreProperties>
</file>